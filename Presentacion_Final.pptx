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</p:sldIdLst>
  <p:sldSz cx="14630400" cy="8229600"/>
  <p:notesSz cx="6858000" cy="9144000"/>
  <p:embeddedFontLst>
    <p:embeddedFont>
      <p:font typeface="Raleway Bold" charset="1" panose="00000000000000000000"/>
      <p:regular r:id="rId11"/>
    </p:embeddedFont>
    <p:embeddedFont>
      <p:font typeface="Gotham Bold" charset="1" panose="00000000000000000000"/>
      <p:regular r:id="rId12"/>
    </p:embeddedFont>
    <p:embeddedFont>
      <p:font typeface="Raleway Semi-Bold" charset="1" panose="00000000000000000000"/>
      <p:regular r:id="rId13"/>
    </p:embeddedFont>
    <p:embeddedFont>
      <p:font typeface="Roboto Bold" charset="1" panose="02000000000000000000"/>
      <p:regular r:id="rId14"/>
    </p:embeddedFont>
    <p:embeddedFont>
      <p:font typeface="Roboto" charset="1" panose="02000000000000000000"/>
      <p:regular r:id="rId15"/>
    </p:embeddedFont>
    <p:embeddedFont>
      <p:font typeface="TT Chocolates" charset="1" panose="02000503020000020003"/>
      <p:regular r:id="rId16"/>
    </p:embeddedFont>
    <p:embeddedFont>
      <p:font typeface="TT Chocolates Bold" charset="1" panose="02000803020000020003"/>
      <p:regular r:id="rId17"/>
    </p:embeddedFont>
    <p:embeddedFont>
      <p:font typeface="HK Grotesk Semi-Bold" charset="1" panose="00000700000000000000"/>
      <p:regular r:id="rId18"/>
    </p:embeddedFont>
    <p:embeddedFont>
      <p:font typeface="TT Commons Pro" charset="1" panose="020B0103030102020204"/>
      <p:regular r:id="rId19"/>
    </p:embeddedFont>
    <p:embeddedFont>
      <p:font typeface="HK Grotesk Bold" charset="1" panose="00000800000000000000"/>
      <p:regular r:id="rId20"/>
    </p:embeddedFont>
    <p:embeddedFont>
      <p:font typeface="Raleway" charset="1" panose="00000000000000000000"/>
      <p:regular r:id="rId21"/>
    </p:embeddedFont>
    <p:embeddedFont>
      <p:font typeface="TT Commons Pro Bold" charset="1" panose="020B0103030102020204"/>
      <p:regular r:id="rId22"/>
    </p:embeddedFont>
    <p:embeddedFont>
      <p:font typeface="Gotham" charset="1" panose="00000000000000000000"/>
      <p:regular r:id="rId23"/>
    </p:embeddedFont>
    <p:embeddedFont>
      <p:font typeface="Open Sans Bold" charset="1" panose="00000000000000000000"/>
      <p:regular r:id="rId24"/>
    </p:embeddedFont>
    <p:embeddedFont>
      <p:font typeface="DM Sans" charset="1" panose="00000000000000000000"/>
      <p:regular r:id="rId25"/>
    </p:embeddedFont>
    <p:embeddedFont>
      <p:font typeface="DM Sans Bold" charset="1" panose="00000000000000000000"/>
      <p:regular r:id="rId26"/>
    </p:embeddedFont>
    <p:embeddedFont>
      <p:font typeface="Lato Heavy" charset="1" panose="020F0502020204030203"/>
      <p:regular r:id="rId27"/>
    </p:embeddedFont>
    <p:embeddedFont>
      <p:font typeface="Lato" charset="1" panose="020F0502020204030203"/>
      <p:regular r:id="rId28"/>
    </p:embeddedFont>
    <p:embeddedFont>
      <p:font typeface="Lato Bold" charset="1" panose="020F0502020204030203"/>
      <p:regular r:id="rId2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fonts/font11.fntdata" Type="http://schemas.openxmlformats.org/officeDocument/2006/relationships/font"/><Relationship Id="rId12" Target="fonts/font12.fntdata" Type="http://schemas.openxmlformats.org/officeDocument/2006/relationships/font"/><Relationship Id="rId13" Target="fonts/font13.fntdata" Type="http://schemas.openxmlformats.org/officeDocument/2006/relationships/font"/><Relationship Id="rId14" Target="fonts/font14.fntdata" Type="http://schemas.openxmlformats.org/officeDocument/2006/relationships/font"/><Relationship Id="rId15" Target="fonts/font15.fntdata" Type="http://schemas.openxmlformats.org/officeDocument/2006/relationships/font"/><Relationship Id="rId16" Target="fonts/font16.fntdata" Type="http://schemas.openxmlformats.org/officeDocument/2006/relationships/font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21" Target="fonts/font21.fntdata" Type="http://schemas.openxmlformats.org/officeDocument/2006/relationships/font"/><Relationship Id="rId22" Target="fonts/font22.fntdata" Type="http://schemas.openxmlformats.org/officeDocument/2006/relationships/font"/><Relationship Id="rId23" Target="fonts/font23.fntdata" Type="http://schemas.openxmlformats.org/officeDocument/2006/relationships/font"/><Relationship Id="rId24" Target="fonts/font24.fntdata" Type="http://schemas.openxmlformats.org/officeDocument/2006/relationships/font"/><Relationship Id="rId25" Target="fonts/font25.fntdata" Type="http://schemas.openxmlformats.org/officeDocument/2006/relationships/font"/><Relationship Id="rId26" Target="fonts/font26.fntdata" Type="http://schemas.openxmlformats.org/officeDocument/2006/relationships/font"/><Relationship Id="rId27" Target="fonts/font27.fntdata" Type="http://schemas.openxmlformats.org/officeDocument/2006/relationships/font"/><Relationship Id="rId28" Target="fonts/font28.fntdata" Type="http://schemas.openxmlformats.org/officeDocument/2006/relationships/font"/><Relationship Id="rId29" Target="fonts/font29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png" Type="http://schemas.openxmlformats.org/officeDocument/2006/relationships/image"/><Relationship Id="rId11" Target="../media/image10.png" Type="http://schemas.openxmlformats.org/officeDocument/2006/relationships/image"/><Relationship Id="rId12" Target="../media/image11.png" Type="http://schemas.openxmlformats.org/officeDocument/2006/relationships/image"/><Relationship Id="rId13" Target="../media/image12.png" Type="http://schemas.openxmlformats.org/officeDocument/2006/relationships/image"/><Relationship Id="rId14" Target="../media/image13.png" Type="http://schemas.openxmlformats.org/officeDocument/2006/relationships/image"/><Relationship Id="rId15" Target="../media/image14.png" Type="http://schemas.openxmlformats.org/officeDocument/2006/relationships/image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Relationship Id="rId5" Target="../media/image4.png" Type="http://schemas.openxmlformats.org/officeDocument/2006/relationships/image"/><Relationship Id="rId6" Target="../media/image5.png" Type="http://schemas.openxmlformats.org/officeDocument/2006/relationships/image"/><Relationship Id="rId7" Target="../media/image6.png" Type="http://schemas.openxmlformats.org/officeDocument/2006/relationships/image"/><Relationship Id="rId8" Target="../media/image7.png" Type="http://schemas.openxmlformats.org/officeDocument/2006/relationships/image"/><Relationship Id="rId9" Target="../media/image8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3.png" Type="http://schemas.openxmlformats.org/officeDocument/2006/relationships/image"/><Relationship Id="rId11" Target="../media/image24.png" Type="http://schemas.openxmlformats.org/officeDocument/2006/relationships/image"/><Relationship Id="rId12" Target="../media/image25.png" Type="http://schemas.openxmlformats.org/officeDocument/2006/relationships/image"/><Relationship Id="rId13" Target="../media/image26.png" Type="http://schemas.openxmlformats.org/officeDocument/2006/relationships/image"/><Relationship Id="rId14" Target="../media/image27.png" Type="http://schemas.openxmlformats.org/officeDocument/2006/relationships/image"/><Relationship Id="rId15" Target="../media/image28.png" Type="http://schemas.openxmlformats.org/officeDocument/2006/relationships/image"/><Relationship Id="rId16" Target="../media/image29.png" Type="http://schemas.openxmlformats.org/officeDocument/2006/relationships/image"/><Relationship Id="rId17" Target="../media/image30.png" Type="http://schemas.openxmlformats.org/officeDocument/2006/relationships/image"/><Relationship Id="rId18" Target="../media/image31.png" Type="http://schemas.openxmlformats.org/officeDocument/2006/relationships/image"/><Relationship Id="rId19" Target="../media/image32.png" Type="http://schemas.openxmlformats.org/officeDocument/2006/relationships/image"/><Relationship Id="rId2" Target="../media/image15.png" Type="http://schemas.openxmlformats.org/officeDocument/2006/relationships/image"/><Relationship Id="rId20" Target="../media/image33.png" Type="http://schemas.openxmlformats.org/officeDocument/2006/relationships/image"/><Relationship Id="rId21" Target="../media/image34.png" Type="http://schemas.openxmlformats.org/officeDocument/2006/relationships/image"/><Relationship Id="rId22" Target="../media/image35.png" Type="http://schemas.openxmlformats.org/officeDocument/2006/relationships/image"/><Relationship Id="rId23" Target="../media/image36.png" Type="http://schemas.openxmlformats.org/officeDocument/2006/relationships/image"/><Relationship Id="rId24" Target="../media/image37.png" Type="http://schemas.openxmlformats.org/officeDocument/2006/relationships/image"/><Relationship Id="rId25" Target="../media/image38.png" Type="http://schemas.openxmlformats.org/officeDocument/2006/relationships/image"/><Relationship Id="rId26" Target="../media/image39.png" Type="http://schemas.openxmlformats.org/officeDocument/2006/relationships/image"/><Relationship Id="rId27" Target="../media/image40.png" Type="http://schemas.openxmlformats.org/officeDocument/2006/relationships/image"/><Relationship Id="rId28" Target="../media/image41.png" Type="http://schemas.openxmlformats.org/officeDocument/2006/relationships/image"/><Relationship Id="rId29" Target="../media/image42.png" Type="http://schemas.openxmlformats.org/officeDocument/2006/relationships/image"/><Relationship Id="rId3" Target="../media/image16.png" Type="http://schemas.openxmlformats.org/officeDocument/2006/relationships/image"/><Relationship Id="rId30" Target="../media/image43.png" Type="http://schemas.openxmlformats.org/officeDocument/2006/relationships/image"/><Relationship Id="rId31" Target="../media/image44.png" Type="http://schemas.openxmlformats.org/officeDocument/2006/relationships/image"/><Relationship Id="rId32" Target="../media/image45.png" Type="http://schemas.openxmlformats.org/officeDocument/2006/relationships/image"/><Relationship Id="rId33" Target="../media/image46.png" Type="http://schemas.openxmlformats.org/officeDocument/2006/relationships/image"/><Relationship Id="rId34" Target="../media/image47.png" Type="http://schemas.openxmlformats.org/officeDocument/2006/relationships/image"/><Relationship Id="rId35" Target="../media/image48.png" Type="http://schemas.openxmlformats.org/officeDocument/2006/relationships/image"/><Relationship Id="rId36" Target="../media/image49.png" Type="http://schemas.openxmlformats.org/officeDocument/2006/relationships/image"/><Relationship Id="rId37" Target="../media/image50.png" Type="http://schemas.openxmlformats.org/officeDocument/2006/relationships/image"/><Relationship Id="rId38" Target="../media/image51.png" Type="http://schemas.openxmlformats.org/officeDocument/2006/relationships/image"/><Relationship Id="rId4" Target="../media/image17.png" Type="http://schemas.openxmlformats.org/officeDocument/2006/relationships/image"/><Relationship Id="rId5" Target="../media/image18.png" Type="http://schemas.openxmlformats.org/officeDocument/2006/relationships/image"/><Relationship Id="rId6" Target="../media/image19.png" Type="http://schemas.openxmlformats.org/officeDocument/2006/relationships/image"/><Relationship Id="rId7" Target="../media/image20.png" Type="http://schemas.openxmlformats.org/officeDocument/2006/relationships/image"/><Relationship Id="rId8" Target="../media/image21.png" Type="http://schemas.openxmlformats.org/officeDocument/2006/relationships/image"/><Relationship Id="rId9" Target="../media/image22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60.png" Type="http://schemas.openxmlformats.org/officeDocument/2006/relationships/image"/><Relationship Id="rId11" Target="../media/image61.png" Type="http://schemas.openxmlformats.org/officeDocument/2006/relationships/image"/><Relationship Id="rId12" Target="../media/image62.png" Type="http://schemas.openxmlformats.org/officeDocument/2006/relationships/image"/><Relationship Id="rId13" Target="../media/image63.png" Type="http://schemas.openxmlformats.org/officeDocument/2006/relationships/image"/><Relationship Id="rId14" Target="../media/image64.png" Type="http://schemas.openxmlformats.org/officeDocument/2006/relationships/image"/><Relationship Id="rId15" Target="../media/image65.png" Type="http://schemas.openxmlformats.org/officeDocument/2006/relationships/image"/><Relationship Id="rId16" Target="../media/image66.png" Type="http://schemas.openxmlformats.org/officeDocument/2006/relationships/image"/><Relationship Id="rId17" Target="../media/image67.png" Type="http://schemas.openxmlformats.org/officeDocument/2006/relationships/image"/><Relationship Id="rId2" Target="../media/image52.png" Type="http://schemas.openxmlformats.org/officeDocument/2006/relationships/image"/><Relationship Id="rId3" Target="../media/image53.png" Type="http://schemas.openxmlformats.org/officeDocument/2006/relationships/image"/><Relationship Id="rId4" Target="../media/image54.png" Type="http://schemas.openxmlformats.org/officeDocument/2006/relationships/image"/><Relationship Id="rId5" Target="../media/image55.png" Type="http://schemas.openxmlformats.org/officeDocument/2006/relationships/image"/><Relationship Id="rId6" Target="../media/image56.png" Type="http://schemas.openxmlformats.org/officeDocument/2006/relationships/image"/><Relationship Id="rId7" Target="../media/image57.png" Type="http://schemas.openxmlformats.org/officeDocument/2006/relationships/image"/><Relationship Id="rId8" Target="../media/image58.png" Type="http://schemas.openxmlformats.org/officeDocument/2006/relationships/image"/><Relationship Id="rId9" Target="../media/image59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76.png" Type="http://schemas.openxmlformats.org/officeDocument/2006/relationships/image"/><Relationship Id="rId11" Target="../media/image77.png" Type="http://schemas.openxmlformats.org/officeDocument/2006/relationships/image"/><Relationship Id="rId12" Target="../media/image78.png" Type="http://schemas.openxmlformats.org/officeDocument/2006/relationships/image"/><Relationship Id="rId13" Target="../media/image79.png" Type="http://schemas.openxmlformats.org/officeDocument/2006/relationships/image"/><Relationship Id="rId14" Target="../media/image80.png" Type="http://schemas.openxmlformats.org/officeDocument/2006/relationships/image"/><Relationship Id="rId15" Target="../media/image81.png" Type="http://schemas.openxmlformats.org/officeDocument/2006/relationships/image"/><Relationship Id="rId2" Target="../media/image68.png" Type="http://schemas.openxmlformats.org/officeDocument/2006/relationships/image"/><Relationship Id="rId3" Target="../media/image69.png" Type="http://schemas.openxmlformats.org/officeDocument/2006/relationships/image"/><Relationship Id="rId4" Target="../media/image70.png" Type="http://schemas.openxmlformats.org/officeDocument/2006/relationships/image"/><Relationship Id="rId5" Target="../media/image71.png" Type="http://schemas.openxmlformats.org/officeDocument/2006/relationships/image"/><Relationship Id="rId6" Target="../media/image72.png" Type="http://schemas.openxmlformats.org/officeDocument/2006/relationships/image"/><Relationship Id="rId7" Target="../media/image73.png" Type="http://schemas.openxmlformats.org/officeDocument/2006/relationships/image"/><Relationship Id="rId8" Target="../media/image74.png" Type="http://schemas.openxmlformats.org/officeDocument/2006/relationships/image"/><Relationship Id="rId9" Target="../media/image75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0.png" Type="http://schemas.openxmlformats.org/officeDocument/2006/relationships/image"/><Relationship Id="rId11" Target="../media/image91.png" Type="http://schemas.openxmlformats.org/officeDocument/2006/relationships/image"/><Relationship Id="rId12" Target="../media/image92.png" Type="http://schemas.openxmlformats.org/officeDocument/2006/relationships/image"/><Relationship Id="rId13" Target="../media/image93.png" Type="http://schemas.openxmlformats.org/officeDocument/2006/relationships/image"/><Relationship Id="rId14" Target="../media/image94.png" Type="http://schemas.openxmlformats.org/officeDocument/2006/relationships/image"/><Relationship Id="rId15" Target="../media/image95.png" Type="http://schemas.openxmlformats.org/officeDocument/2006/relationships/image"/><Relationship Id="rId16" Target="../media/image96.png" Type="http://schemas.openxmlformats.org/officeDocument/2006/relationships/image"/><Relationship Id="rId17" Target="../media/image97.png" Type="http://schemas.openxmlformats.org/officeDocument/2006/relationships/image"/><Relationship Id="rId18" Target="../media/image98.png" Type="http://schemas.openxmlformats.org/officeDocument/2006/relationships/image"/><Relationship Id="rId19" Target="../media/image99.png" Type="http://schemas.openxmlformats.org/officeDocument/2006/relationships/image"/><Relationship Id="rId2" Target="../media/image82.png" Type="http://schemas.openxmlformats.org/officeDocument/2006/relationships/image"/><Relationship Id="rId20" Target="../media/image100.png" Type="http://schemas.openxmlformats.org/officeDocument/2006/relationships/image"/><Relationship Id="rId21" Target="../media/image101.png" Type="http://schemas.openxmlformats.org/officeDocument/2006/relationships/image"/><Relationship Id="rId22" Target="../media/image102.png" Type="http://schemas.openxmlformats.org/officeDocument/2006/relationships/image"/><Relationship Id="rId23" Target="../media/image103.png" Type="http://schemas.openxmlformats.org/officeDocument/2006/relationships/image"/><Relationship Id="rId24" Target="../media/image104.png" Type="http://schemas.openxmlformats.org/officeDocument/2006/relationships/image"/><Relationship Id="rId25" Target="../media/image105.png" Type="http://schemas.openxmlformats.org/officeDocument/2006/relationships/image"/><Relationship Id="rId26" Target="../media/image106.png" Type="http://schemas.openxmlformats.org/officeDocument/2006/relationships/image"/><Relationship Id="rId27" Target="../media/image107.png" Type="http://schemas.openxmlformats.org/officeDocument/2006/relationships/image"/><Relationship Id="rId28" Target="../media/image108.png" Type="http://schemas.openxmlformats.org/officeDocument/2006/relationships/image"/><Relationship Id="rId29" Target="../media/image109.png" Type="http://schemas.openxmlformats.org/officeDocument/2006/relationships/image"/><Relationship Id="rId3" Target="../media/image83.png" Type="http://schemas.openxmlformats.org/officeDocument/2006/relationships/image"/><Relationship Id="rId30" Target="../media/image110.png" Type="http://schemas.openxmlformats.org/officeDocument/2006/relationships/image"/><Relationship Id="rId31" Target="../media/image111.png" Type="http://schemas.openxmlformats.org/officeDocument/2006/relationships/image"/><Relationship Id="rId4" Target="../media/image84.png" Type="http://schemas.openxmlformats.org/officeDocument/2006/relationships/image"/><Relationship Id="rId5" Target="../media/image85.png" Type="http://schemas.openxmlformats.org/officeDocument/2006/relationships/image"/><Relationship Id="rId6" Target="../media/image86.png" Type="http://schemas.openxmlformats.org/officeDocument/2006/relationships/image"/><Relationship Id="rId7" Target="../media/image87.png" Type="http://schemas.openxmlformats.org/officeDocument/2006/relationships/image"/><Relationship Id="rId8" Target="../media/image88.png" Type="http://schemas.openxmlformats.org/officeDocument/2006/relationships/image"/><Relationship Id="rId9" Target="../media/image89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4630400" cy="8229600"/>
          </a:xfrm>
          <a:custGeom>
            <a:avLst/>
            <a:gdLst/>
            <a:ahLst/>
            <a:cxnLst/>
            <a:rect r="r" b="b" t="t" l="l"/>
            <a:pathLst>
              <a:path h="8229600" w="14630400">
                <a:moveTo>
                  <a:pt x="0" y="0"/>
                </a:moveTo>
                <a:lnTo>
                  <a:pt x="14630400" y="0"/>
                </a:lnTo>
                <a:lnTo>
                  <a:pt x="14630400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5048250" y="171450"/>
            <a:ext cx="5581650" cy="7200900"/>
          </a:xfrm>
          <a:custGeom>
            <a:avLst/>
            <a:gdLst/>
            <a:ahLst/>
            <a:cxnLst/>
            <a:rect r="r" b="b" t="t" l="l"/>
            <a:pathLst>
              <a:path h="7200900" w="5581650">
                <a:moveTo>
                  <a:pt x="0" y="0"/>
                </a:moveTo>
                <a:lnTo>
                  <a:pt x="5581650" y="0"/>
                </a:lnTo>
                <a:lnTo>
                  <a:pt x="5581650" y="7200900"/>
                </a:lnTo>
                <a:lnTo>
                  <a:pt x="0" y="72009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6791325" y="0"/>
            <a:ext cx="7839075" cy="8229600"/>
          </a:xfrm>
          <a:custGeom>
            <a:avLst/>
            <a:gdLst/>
            <a:ahLst/>
            <a:cxnLst/>
            <a:rect r="r" b="b" t="t" l="l"/>
            <a:pathLst>
              <a:path h="8229600" w="7839075">
                <a:moveTo>
                  <a:pt x="0" y="0"/>
                </a:moveTo>
                <a:lnTo>
                  <a:pt x="7839075" y="0"/>
                </a:lnTo>
                <a:lnTo>
                  <a:pt x="7839075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514350" y="1200150"/>
            <a:ext cx="885825" cy="342900"/>
          </a:xfrm>
          <a:custGeom>
            <a:avLst/>
            <a:gdLst/>
            <a:ahLst/>
            <a:cxnLst/>
            <a:rect r="r" b="b" t="t" l="l"/>
            <a:pathLst>
              <a:path h="342900" w="885825">
                <a:moveTo>
                  <a:pt x="0" y="0"/>
                </a:moveTo>
                <a:lnTo>
                  <a:pt x="885825" y="0"/>
                </a:lnTo>
                <a:lnTo>
                  <a:pt x="885825" y="342900"/>
                </a:lnTo>
                <a:lnTo>
                  <a:pt x="0" y="34290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679813" y="1801267"/>
            <a:ext cx="4884922" cy="3761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11"/>
              </a:lnSpc>
            </a:pPr>
            <a:r>
              <a:rPr lang="en-US" sz="2425" spc="-48" b="true">
                <a:solidFill>
                  <a:srgbClr val="072750"/>
                </a:solidFill>
                <a:latin typeface="Raleway Bold"/>
                <a:ea typeface="Raleway Bold"/>
                <a:cs typeface="Raleway Bold"/>
                <a:sym typeface="Raleway Bold"/>
              </a:rPr>
              <a:t>Introducción a la ciencia de datos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667052" y="2435917"/>
            <a:ext cx="6161041" cy="28050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274"/>
              </a:lnSpc>
            </a:pPr>
            <a:r>
              <a:rPr lang="en-US" sz="7655" spc="-381" b="true">
                <a:solidFill>
                  <a:srgbClr val="072750"/>
                </a:solidFill>
                <a:latin typeface="Gotham Bold"/>
                <a:ea typeface="Gotham Bold"/>
                <a:cs typeface="Gotham Bold"/>
                <a:sym typeface="Gotham Bold"/>
              </a:rPr>
              <a:t>Estimador de </a:t>
            </a:r>
            <a:r>
              <a:rPr lang="en-US" sz="7655" spc="-381" b="true">
                <a:solidFill>
                  <a:srgbClr val="F8741B"/>
                </a:solidFill>
                <a:latin typeface="Gotham Bold"/>
                <a:ea typeface="Gotham Bold"/>
                <a:cs typeface="Gotham Bold"/>
                <a:sym typeface="Gotham Bold"/>
              </a:rPr>
              <a:t>precios de</a:t>
            </a:r>
            <a:r>
              <a:rPr lang="en-US" sz="7655" spc="-381" b="true">
                <a:solidFill>
                  <a:srgbClr val="072750"/>
                </a:solidFill>
                <a:latin typeface="Gotham Bold"/>
                <a:ea typeface="Gotham Bold"/>
                <a:cs typeface="Gotham Bold"/>
                <a:sym typeface="Gotham Bold"/>
              </a:rPr>
              <a:t> viviendas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703166" y="5384150"/>
            <a:ext cx="4692820" cy="9463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86"/>
              </a:lnSpc>
            </a:pPr>
            <a:r>
              <a:rPr lang="en-US" sz="1989" b="true">
                <a:solidFill>
                  <a:srgbClr val="626B80"/>
                </a:solidFill>
                <a:latin typeface="Raleway Semi-Bold"/>
                <a:ea typeface="Raleway Semi-Bold"/>
                <a:cs typeface="Raleway Semi-Bold"/>
                <a:sym typeface="Raleway Semi-Bold"/>
              </a:rPr>
              <a:t>Del primer modelo lineal a XGBoost optimizado con Optuna, explicado con Feature Importance y SHAP.</a:t>
            </a:r>
          </a:p>
        </p:txBody>
      </p:sp>
      <p:sp>
        <p:nvSpPr>
          <p:cNvPr name="Freeform 9" id="9"/>
          <p:cNvSpPr/>
          <p:nvPr/>
        </p:nvSpPr>
        <p:spPr>
          <a:xfrm flipH="false" flipV="false" rot="0">
            <a:off x="695325" y="6515100"/>
            <a:ext cx="2095500" cy="1028700"/>
          </a:xfrm>
          <a:custGeom>
            <a:avLst/>
            <a:gdLst/>
            <a:ahLst/>
            <a:cxnLst/>
            <a:rect r="r" b="b" t="t" l="l"/>
            <a:pathLst>
              <a:path h="1028700" w="2095500">
                <a:moveTo>
                  <a:pt x="0" y="0"/>
                </a:moveTo>
                <a:lnTo>
                  <a:pt x="2095500" y="0"/>
                </a:lnTo>
                <a:lnTo>
                  <a:pt x="2095500" y="1028700"/>
                </a:lnTo>
                <a:lnTo>
                  <a:pt x="0" y="102870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695325" y="6686550"/>
            <a:ext cx="704850" cy="685800"/>
          </a:xfrm>
          <a:custGeom>
            <a:avLst/>
            <a:gdLst/>
            <a:ahLst/>
            <a:cxnLst/>
            <a:rect r="r" b="b" t="t" l="l"/>
            <a:pathLst>
              <a:path h="685800" w="704850">
                <a:moveTo>
                  <a:pt x="0" y="0"/>
                </a:moveTo>
                <a:lnTo>
                  <a:pt x="704850" y="0"/>
                </a:lnTo>
                <a:lnTo>
                  <a:pt x="704850" y="685800"/>
                </a:lnTo>
                <a:lnTo>
                  <a:pt x="0" y="685800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1516887" y="6823174"/>
            <a:ext cx="473195" cy="214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89"/>
              </a:lnSpc>
            </a:pPr>
            <a:r>
              <a:rPr lang="en-US" sz="1490" spc="-29" b="true">
                <a:solidFill>
                  <a:srgbClr val="072750"/>
                </a:solidFill>
                <a:latin typeface="Raleway Bold"/>
                <a:ea typeface="Raleway Bold"/>
                <a:cs typeface="Raleway Bold"/>
                <a:sym typeface="Raleway Bold"/>
              </a:rPr>
              <a:t>4,546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510576" y="7052221"/>
            <a:ext cx="1104316" cy="1999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70"/>
              </a:lnSpc>
            </a:pPr>
            <a:r>
              <a:rPr lang="en-US" sz="1392" spc="-27" b="true">
                <a:solidFill>
                  <a:srgbClr val="072750"/>
                </a:solidFill>
                <a:latin typeface="Raleway Semi-Bold"/>
                <a:ea typeface="Raleway Semi-Bold"/>
                <a:cs typeface="Raleway Semi-Bold"/>
                <a:sym typeface="Raleway Semi-Bold"/>
              </a:rPr>
              <a:t>ventas reales</a:t>
            </a:r>
          </a:p>
        </p:txBody>
      </p:sp>
      <p:sp>
        <p:nvSpPr>
          <p:cNvPr name="Freeform 13" id="13"/>
          <p:cNvSpPr/>
          <p:nvPr/>
        </p:nvSpPr>
        <p:spPr>
          <a:xfrm flipH="false" flipV="false" rot="0">
            <a:off x="2781300" y="6515100"/>
            <a:ext cx="1924050" cy="1028700"/>
          </a:xfrm>
          <a:custGeom>
            <a:avLst/>
            <a:gdLst/>
            <a:ahLst/>
            <a:cxnLst/>
            <a:rect r="r" b="b" t="t" l="l"/>
            <a:pathLst>
              <a:path h="1028700" w="1924050">
                <a:moveTo>
                  <a:pt x="0" y="0"/>
                </a:moveTo>
                <a:lnTo>
                  <a:pt x="1924050" y="0"/>
                </a:lnTo>
                <a:lnTo>
                  <a:pt x="1924050" y="1028700"/>
                </a:lnTo>
                <a:lnTo>
                  <a:pt x="0" y="1028700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2952750" y="6686550"/>
            <a:ext cx="704850" cy="685800"/>
          </a:xfrm>
          <a:custGeom>
            <a:avLst/>
            <a:gdLst/>
            <a:ahLst/>
            <a:cxnLst/>
            <a:rect r="r" b="b" t="t" l="l"/>
            <a:pathLst>
              <a:path h="685800" w="704850">
                <a:moveTo>
                  <a:pt x="0" y="0"/>
                </a:moveTo>
                <a:lnTo>
                  <a:pt x="704850" y="0"/>
                </a:lnTo>
                <a:lnTo>
                  <a:pt x="704850" y="685800"/>
                </a:lnTo>
                <a:lnTo>
                  <a:pt x="0" y="685800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3656833" y="6823174"/>
            <a:ext cx="791122" cy="4285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89"/>
              </a:lnSpc>
            </a:pPr>
            <a:r>
              <a:rPr lang="en-US" sz="1490" spc="-29" b="true">
                <a:solidFill>
                  <a:srgbClr val="072750"/>
                </a:solidFill>
                <a:latin typeface="Raleway Bold"/>
                <a:ea typeface="Raleway Bold"/>
                <a:cs typeface="Raleway Bold"/>
                <a:sym typeface="Raleway Bold"/>
              </a:rPr>
              <a:t>XGBoost</a:t>
            </a:r>
          </a:p>
          <a:p>
            <a:pPr algn="l">
              <a:lnSpc>
                <a:spcPts val="1789"/>
              </a:lnSpc>
            </a:pPr>
            <a:r>
              <a:rPr lang="en-US" sz="1490" spc="-29" b="true">
                <a:solidFill>
                  <a:srgbClr val="072750"/>
                </a:solidFill>
                <a:latin typeface="Raleway Bold"/>
                <a:ea typeface="Raleway Bold"/>
                <a:cs typeface="Raleway Bold"/>
                <a:sym typeface="Raleway Bold"/>
              </a:rPr>
              <a:t>+ Optuna</a:t>
            </a:r>
          </a:p>
        </p:txBody>
      </p:sp>
      <p:sp>
        <p:nvSpPr>
          <p:cNvPr name="Freeform 16" id="16"/>
          <p:cNvSpPr/>
          <p:nvPr/>
        </p:nvSpPr>
        <p:spPr>
          <a:xfrm flipH="false" flipV="false" rot="0">
            <a:off x="4695825" y="6515100"/>
            <a:ext cx="2105025" cy="1028700"/>
          </a:xfrm>
          <a:custGeom>
            <a:avLst/>
            <a:gdLst/>
            <a:ahLst/>
            <a:cxnLst/>
            <a:rect r="r" b="b" t="t" l="l"/>
            <a:pathLst>
              <a:path h="1028700" w="2105025">
                <a:moveTo>
                  <a:pt x="0" y="0"/>
                </a:moveTo>
                <a:lnTo>
                  <a:pt x="2105025" y="0"/>
                </a:lnTo>
                <a:lnTo>
                  <a:pt x="2105025" y="1028700"/>
                </a:lnTo>
                <a:lnTo>
                  <a:pt x="0" y="1028700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false" rot="0">
            <a:off x="4876800" y="6686550"/>
            <a:ext cx="704850" cy="685800"/>
          </a:xfrm>
          <a:custGeom>
            <a:avLst/>
            <a:gdLst/>
            <a:ahLst/>
            <a:cxnLst/>
            <a:rect r="r" b="b" t="t" l="l"/>
            <a:pathLst>
              <a:path h="685800" w="704850">
                <a:moveTo>
                  <a:pt x="0" y="0"/>
                </a:moveTo>
                <a:lnTo>
                  <a:pt x="704850" y="0"/>
                </a:lnTo>
                <a:lnTo>
                  <a:pt x="704850" y="685800"/>
                </a:lnTo>
                <a:lnTo>
                  <a:pt x="0" y="685800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0" t="0" r="0" b="0"/>
            </a:stretch>
          </a:blipFill>
        </p:spPr>
      </p:sp>
      <p:sp>
        <p:nvSpPr>
          <p:cNvPr name="TextBox 18" id="18"/>
          <p:cNvSpPr txBox="true"/>
          <p:nvPr/>
        </p:nvSpPr>
        <p:spPr>
          <a:xfrm rot="0">
            <a:off x="5626574" y="6823174"/>
            <a:ext cx="984473" cy="4285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89"/>
              </a:lnSpc>
            </a:pPr>
            <a:r>
              <a:rPr lang="en-US" sz="1490" spc="-29" b="true">
                <a:solidFill>
                  <a:srgbClr val="072750"/>
                </a:solidFill>
                <a:latin typeface="Raleway Bold"/>
                <a:ea typeface="Raleway Bold"/>
                <a:cs typeface="Raleway Bold"/>
                <a:sym typeface="Raleway Bold"/>
              </a:rPr>
              <a:t>Error típico 10,9 %</a:t>
            </a:r>
          </a:p>
        </p:txBody>
      </p:sp>
      <p:sp>
        <p:nvSpPr>
          <p:cNvPr name="Freeform 19" id="19"/>
          <p:cNvSpPr/>
          <p:nvPr/>
        </p:nvSpPr>
        <p:spPr>
          <a:xfrm flipH="false" flipV="false" rot="0">
            <a:off x="8534400" y="0"/>
            <a:ext cx="2266950" cy="1714500"/>
          </a:xfrm>
          <a:custGeom>
            <a:avLst/>
            <a:gdLst/>
            <a:ahLst/>
            <a:cxnLst/>
            <a:rect r="r" b="b" t="t" l="l"/>
            <a:pathLst>
              <a:path h="1714500" w="2266950">
                <a:moveTo>
                  <a:pt x="0" y="0"/>
                </a:moveTo>
                <a:lnTo>
                  <a:pt x="2266950" y="0"/>
                </a:lnTo>
                <a:lnTo>
                  <a:pt x="2266950" y="1714500"/>
                </a:lnTo>
                <a:lnTo>
                  <a:pt x="0" y="1714500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 l="0" t="0" r="0" b="0"/>
            </a:stretch>
          </a:blipFill>
        </p:spPr>
      </p:sp>
      <p:sp>
        <p:nvSpPr>
          <p:cNvPr name="Freeform 20" id="20"/>
          <p:cNvSpPr/>
          <p:nvPr/>
        </p:nvSpPr>
        <p:spPr>
          <a:xfrm flipH="false" flipV="false" rot="0">
            <a:off x="6791325" y="6343650"/>
            <a:ext cx="3486150" cy="1885950"/>
          </a:xfrm>
          <a:custGeom>
            <a:avLst/>
            <a:gdLst/>
            <a:ahLst/>
            <a:cxnLst/>
            <a:rect r="r" b="b" t="t" l="l"/>
            <a:pathLst>
              <a:path h="1885950" w="3486150">
                <a:moveTo>
                  <a:pt x="0" y="0"/>
                </a:moveTo>
                <a:lnTo>
                  <a:pt x="3486150" y="0"/>
                </a:lnTo>
                <a:lnTo>
                  <a:pt x="3486150" y="1885950"/>
                </a:lnTo>
                <a:lnTo>
                  <a:pt x="0" y="1885950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 l="0" t="0" r="0" b="0"/>
            </a:stretch>
          </a:blipFill>
        </p:spPr>
      </p:sp>
      <p:sp>
        <p:nvSpPr>
          <p:cNvPr name="Freeform 21" id="21"/>
          <p:cNvSpPr/>
          <p:nvPr/>
        </p:nvSpPr>
        <p:spPr>
          <a:xfrm flipH="false" flipV="false" rot="0">
            <a:off x="9229725" y="3771900"/>
            <a:ext cx="4886325" cy="3771900"/>
          </a:xfrm>
          <a:custGeom>
            <a:avLst/>
            <a:gdLst/>
            <a:ahLst/>
            <a:cxnLst/>
            <a:rect r="r" b="b" t="t" l="l"/>
            <a:pathLst>
              <a:path h="3771900" w="4886325">
                <a:moveTo>
                  <a:pt x="0" y="0"/>
                </a:moveTo>
                <a:lnTo>
                  <a:pt x="4886325" y="0"/>
                </a:lnTo>
                <a:lnTo>
                  <a:pt x="4886325" y="3771900"/>
                </a:lnTo>
                <a:lnTo>
                  <a:pt x="0" y="3771900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>
              <a:fillRect l="0" t="0" r="0" b="0"/>
            </a:stretch>
          </a:blipFill>
        </p:spPr>
      </p:sp>
      <p:sp>
        <p:nvSpPr>
          <p:cNvPr name="TextBox 22" id="22"/>
          <p:cNvSpPr txBox="true"/>
          <p:nvPr/>
        </p:nvSpPr>
        <p:spPr>
          <a:xfrm rot="0">
            <a:off x="9818321" y="4243387"/>
            <a:ext cx="1862252" cy="1999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70"/>
              </a:lnSpc>
            </a:pPr>
            <a:r>
              <a:rPr lang="en-US" b="true" sz="1392" spc="417">
                <a:solidFill>
                  <a:srgbClr val="072750"/>
                </a:solidFill>
                <a:latin typeface="Raleway Bold"/>
                <a:ea typeface="Raleway Bold"/>
                <a:cs typeface="Raleway Bold"/>
                <a:sym typeface="Raleway Bold"/>
              </a:rPr>
              <a:t>INTEGRANTES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9803769" y="4547718"/>
            <a:ext cx="3317488" cy="7984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3"/>
              </a:lnSpc>
            </a:pPr>
            <a:r>
              <a:rPr lang="en-US" sz="2316" spc="-46" b="true">
                <a:solidFill>
                  <a:srgbClr val="072750"/>
                </a:solidFill>
                <a:latin typeface="Raleway Bold"/>
                <a:ea typeface="Raleway Bold"/>
                <a:cs typeface="Raleway Bold"/>
                <a:sym typeface="Raleway Bold"/>
              </a:rPr>
              <a:t>Xiomy Baquero Morales</a:t>
            </a:r>
          </a:p>
          <a:p>
            <a:pPr algn="l">
              <a:lnSpc>
                <a:spcPts val="3243"/>
              </a:lnSpc>
            </a:pPr>
            <a:r>
              <a:rPr lang="en-US" sz="2316" spc="-46" b="true">
                <a:solidFill>
                  <a:srgbClr val="072750"/>
                </a:solidFill>
                <a:latin typeface="Raleway Bold"/>
                <a:ea typeface="Raleway Bold"/>
                <a:cs typeface="Raleway Bold"/>
                <a:sym typeface="Raleway Bold"/>
              </a:rPr>
              <a:t>Michael Román Álzate</a:t>
            </a:r>
          </a:p>
        </p:txBody>
      </p:sp>
      <p:sp>
        <p:nvSpPr>
          <p:cNvPr name="Freeform 24" id="24"/>
          <p:cNvSpPr/>
          <p:nvPr/>
        </p:nvSpPr>
        <p:spPr>
          <a:xfrm flipH="false" flipV="false" rot="0">
            <a:off x="9753600" y="5486400"/>
            <a:ext cx="3838575" cy="171450"/>
          </a:xfrm>
          <a:custGeom>
            <a:avLst/>
            <a:gdLst/>
            <a:ahLst/>
            <a:cxnLst/>
            <a:rect r="r" b="b" t="t" l="l"/>
            <a:pathLst>
              <a:path h="171450" w="3838575">
                <a:moveTo>
                  <a:pt x="0" y="0"/>
                </a:moveTo>
                <a:lnTo>
                  <a:pt x="3838575" y="0"/>
                </a:lnTo>
                <a:lnTo>
                  <a:pt x="3838575" y="171450"/>
                </a:lnTo>
                <a:lnTo>
                  <a:pt x="0" y="171450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>
              <a:fillRect l="0" t="0" r="0" b="0"/>
            </a:stretch>
          </a:blipFill>
        </p:spPr>
      </p:sp>
      <p:sp>
        <p:nvSpPr>
          <p:cNvPr name="TextBox 25" id="25"/>
          <p:cNvSpPr txBox="true"/>
          <p:nvPr/>
        </p:nvSpPr>
        <p:spPr>
          <a:xfrm rot="0">
            <a:off x="9836944" y="5853284"/>
            <a:ext cx="3236119" cy="2666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01"/>
              </a:lnSpc>
            </a:pPr>
            <a:r>
              <a:rPr lang="en-US" sz="1750" spc="-35" b="true">
                <a:solidFill>
                  <a:srgbClr val="072750"/>
                </a:solidFill>
                <a:latin typeface="Roboto Bold"/>
                <a:ea typeface="Roboto Bold"/>
                <a:cs typeface="Roboto Bold"/>
                <a:sym typeface="Roboto Bold"/>
              </a:rPr>
              <a:t>Universidad de Medellín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9804821" y="6150619"/>
            <a:ext cx="3212259" cy="4952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66"/>
              </a:lnSpc>
            </a:pPr>
            <a:r>
              <a:rPr lang="en-US" sz="1638" spc="-48">
                <a:solidFill>
                  <a:srgbClr val="626B80"/>
                </a:solidFill>
                <a:latin typeface="Roboto"/>
                <a:ea typeface="Roboto"/>
                <a:cs typeface="Roboto"/>
                <a:sym typeface="Roboto"/>
              </a:rPr>
              <a:t>Especialización en ciencia de datos e inteligencia artificial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9836944" y="6781525"/>
            <a:ext cx="3236119" cy="2666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01"/>
              </a:lnSpc>
            </a:pPr>
            <a:r>
              <a:rPr lang="en-US" sz="1750" spc="-35">
                <a:solidFill>
                  <a:srgbClr val="626B80"/>
                </a:solidFill>
                <a:latin typeface="Roboto"/>
                <a:ea typeface="Roboto"/>
                <a:cs typeface="Roboto"/>
                <a:sym typeface="Roboto"/>
              </a:rPr>
              <a:t>Medellín, 2026.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71450" y="1543050"/>
            <a:ext cx="6800850" cy="5486400"/>
          </a:xfrm>
          <a:custGeom>
            <a:avLst/>
            <a:gdLst/>
            <a:ahLst/>
            <a:cxnLst/>
            <a:rect r="r" b="b" t="t" l="l"/>
            <a:pathLst>
              <a:path h="5486400" w="6800850">
                <a:moveTo>
                  <a:pt x="0" y="0"/>
                </a:moveTo>
                <a:lnTo>
                  <a:pt x="6800850" y="0"/>
                </a:lnTo>
                <a:lnTo>
                  <a:pt x="6800850" y="5486400"/>
                </a:lnTo>
                <a:lnTo>
                  <a:pt x="0" y="54864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339328" y="1135118"/>
            <a:ext cx="13951744" cy="2460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10"/>
              </a:lnSpc>
            </a:pPr>
            <a:r>
              <a:rPr lang="en-US" sz="1810" spc="-17">
                <a:solidFill>
                  <a:srgbClr val="4F628B"/>
                </a:solidFill>
                <a:latin typeface="TT Chocolates"/>
                <a:ea typeface="TT Chocolates"/>
                <a:cs typeface="TT Chocolates"/>
                <a:sym typeface="TT Chocolates"/>
              </a:rPr>
              <a:t>Validamos la información, revisamos las variables más relevantes y corregimos los problemas antes de entrenar XGBoost.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0">
            <a:off x="171450" y="1371600"/>
            <a:ext cx="876300" cy="342900"/>
          </a:xfrm>
          <a:custGeom>
            <a:avLst/>
            <a:gdLst/>
            <a:ahLst/>
            <a:cxnLst/>
            <a:rect r="r" b="b" t="t" l="l"/>
            <a:pathLst>
              <a:path h="342900" w="876300">
                <a:moveTo>
                  <a:pt x="0" y="0"/>
                </a:moveTo>
                <a:lnTo>
                  <a:pt x="876300" y="0"/>
                </a:lnTo>
                <a:lnTo>
                  <a:pt x="876300" y="342900"/>
                </a:lnTo>
                <a:lnTo>
                  <a:pt x="0" y="3429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582544" y="1837283"/>
            <a:ext cx="3896220" cy="2648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9"/>
              </a:lnSpc>
            </a:pPr>
            <a:r>
              <a:rPr lang="en-US" sz="1989" spc="-19" b="true">
                <a:solidFill>
                  <a:srgbClr val="09234F"/>
                </a:solidFill>
                <a:latin typeface="TT Chocolates Bold"/>
                <a:ea typeface="TT Chocolates Bold"/>
                <a:cs typeface="TT Chocolates Bold"/>
                <a:sym typeface="TT Chocolates Bold"/>
              </a:rPr>
              <a:t>Importancia por permutación – M2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585050" y="2129224"/>
            <a:ext cx="3645575" cy="2056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32"/>
              </a:lnSpc>
            </a:pPr>
            <a:r>
              <a:rPr lang="en-US" sz="1532" spc="-61" b="true">
                <a:solidFill>
                  <a:srgbClr val="4F628B"/>
                </a:solidFill>
                <a:latin typeface="HK Grotesk Semi-Bold"/>
                <a:ea typeface="HK Grotesk Semi-Bold"/>
                <a:cs typeface="HK Grotesk Semi-Bold"/>
                <a:sym typeface="HK Grotesk Semi-Bold"/>
              </a:rPr>
              <a:t>(caída del R² log al desordenar cada variable)</a:t>
            </a:r>
          </a:p>
        </p:txBody>
      </p:sp>
      <p:sp>
        <p:nvSpPr>
          <p:cNvPr name="Freeform 7" id="7"/>
          <p:cNvSpPr/>
          <p:nvPr/>
        </p:nvSpPr>
        <p:spPr>
          <a:xfrm flipH="false" flipV="false" rot="0">
            <a:off x="2085975" y="2571750"/>
            <a:ext cx="4191000" cy="342900"/>
          </a:xfrm>
          <a:custGeom>
            <a:avLst/>
            <a:gdLst/>
            <a:ahLst/>
            <a:cxnLst/>
            <a:rect r="r" b="b" t="t" l="l"/>
            <a:pathLst>
              <a:path h="342900" w="4191000">
                <a:moveTo>
                  <a:pt x="0" y="0"/>
                </a:moveTo>
                <a:lnTo>
                  <a:pt x="4191000" y="0"/>
                </a:lnTo>
                <a:lnTo>
                  <a:pt x="4191000" y="342900"/>
                </a:lnTo>
                <a:lnTo>
                  <a:pt x="0" y="34290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2085975" y="2743200"/>
            <a:ext cx="3314700" cy="514350"/>
          </a:xfrm>
          <a:custGeom>
            <a:avLst/>
            <a:gdLst/>
            <a:ahLst/>
            <a:cxnLst/>
            <a:rect r="r" b="b" t="t" l="l"/>
            <a:pathLst>
              <a:path h="514350" w="3314700">
                <a:moveTo>
                  <a:pt x="0" y="0"/>
                </a:moveTo>
                <a:lnTo>
                  <a:pt x="3314700" y="0"/>
                </a:lnTo>
                <a:lnTo>
                  <a:pt x="3314700" y="514350"/>
                </a:lnTo>
                <a:lnTo>
                  <a:pt x="0" y="51435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2085975" y="3086100"/>
            <a:ext cx="1400175" cy="342900"/>
          </a:xfrm>
          <a:custGeom>
            <a:avLst/>
            <a:gdLst/>
            <a:ahLst/>
            <a:cxnLst/>
            <a:rect r="r" b="b" t="t" l="l"/>
            <a:pathLst>
              <a:path h="342900" w="1400175">
                <a:moveTo>
                  <a:pt x="0" y="0"/>
                </a:moveTo>
                <a:lnTo>
                  <a:pt x="1400175" y="0"/>
                </a:lnTo>
                <a:lnTo>
                  <a:pt x="1400175" y="342900"/>
                </a:lnTo>
                <a:lnTo>
                  <a:pt x="0" y="34290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2085975" y="3429000"/>
            <a:ext cx="704850" cy="342900"/>
          </a:xfrm>
          <a:custGeom>
            <a:avLst/>
            <a:gdLst/>
            <a:ahLst/>
            <a:cxnLst/>
            <a:rect r="r" b="b" t="t" l="l"/>
            <a:pathLst>
              <a:path h="342900" w="704850">
                <a:moveTo>
                  <a:pt x="0" y="0"/>
                </a:moveTo>
                <a:lnTo>
                  <a:pt x="704850" y="0"/>
                </a:lnTo>
                <a:lnTo>
                  <a:pt x="704850" y="342900"/>
                </a:lnTo>
                <a:lnTo>
                  <a:pt x="0" y="342900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2085975" y="3600450"/>
            <a:ext cx="533400" cy="514350"/>
          </a:xfrm>
          <a:custGeom>
            <a:avLst/>
            <a:gdLst/>
            <a:ahLst/>
            <a:cxnLst/>
            <a:rect r="r" b="b" t="t" l="l"/>
            <a:pathLst>
              <a:path h="514350" w="533400">
                <a:moveTo>
                  <a:pt x="0" y="0"/>
                </a:moveTo>
                <a:lnTo>
                  <a:pt x="533400" y="0"/>
                </a:lnTo>
                <a:lnTo>
                  <a:pt x="533400" y="514350"/>
                </a:lnTo>
                <a:lnTo>
                  <a:pt x="0" y="514350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2085975" y="3943350"/>
            <a:ext cx="352425" cy="342900"/>
          </a:xfrm>
          <a:custGeom>
            <a:avLst/>
            <a:gdLst/>
            <a:ahLst/>
            <a:cxnLst/>
            <a:rect r="r" b="b" t="t" l="l"/>
            <a:pathLst>
              <a:path h="342900" w="352425">
                <a:moveTo>
                  <a:pt x="0" y="0"/>
                </a:moveTo>
                <a:lnTo>
                  <a:pt x="352425" y="0"/>
                </a:lnTo>
                <a:lnTo>
                  <a:pt x="352425" y="342900"/>
                </a:lnTo>
                <a:lnTo>
                  <a:pt x="0" y="342900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2085975" y="4286250"/>
            <a:ext cx="352425" cy="342900"/>
          </a:xfrm>
          <a:custGeom>
            <a:avLst/>
            <a:gdLst/>
            <a:ahLst/>
            <a:cxnLst/>
            <a:rect r="r" b="b" t="t" l="l"/>
            <a:pathLst>
              <a:path h="342900" w="352425">
                <a:moveTo>
                  <a:pt x="0" y="0"/>
                </a:moveTo>
                <a:lnTo>
                  <a:pt x="352425" y="0"/>
                </a:lnTo>
                <a:lnTo>
                  <a:pt x="352425" y="342900"/>
                </a:lnTo>
                <a:lnTo>
                  <a:pt x="0" y="342900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2085975" y="4457700"/>
            <a:ext cx="352425" cy="514350"/>
          </a:xfrm>
          <a:custGeom>
            <a:avLst/>
            <a:gdLst/>
            <a:ahLst/>
            <a:cxnLst/>
            <a:rect r="r" b="b" t="t" l="l"/>
            <a:pathLst>
              <a:path h="514350" w="352425">
                <a:moveTo>
                  <a:pt x="0" y="0"/>
                </a:moveTo>
                <a:lnTo>
                  <a:pt x="352425" y="0"/>
                </a:lnTo>
                <a:lnTo>
                  <a:pt x="352425" y="514350"/>
                </a:lnTo>
                <a:lnTo>
                  <a:pt x="0" y="514350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2085975" y="4800600"/>
            <a:ext cx="352425" cy="342900"/>
          </a:xfrm>
          <a:custGeom>
            <a:avLst/>
            <a:gdLst/>
            <a:ahLst/>
            <a:cxnLst/>
            <a:rect r="r" b="b" t="t" l="l"/>
            <a:pathLst>
              <a:path h="342900" w="352425">
                <a:moveTo>
                  <a:pt x="0" y="0"/>
                </a:moveTo>
                <a:lnTo>
                  <a:pt x="352425" y="0"/>
                </a:lnTo>
                <a:lnTo>
                  <a:pt x="352425" y="342900"/>
                </a:lnTo>
                <a:lnTo>
                  <a:pt x="0" y="342900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2085975" y="5143500"/>
            <a:ext cx="352425" cy="342900"/>
          </a:xfrm>
          <a:custGeom>
            <a:avLst/>
            <a:gdLst/>
            <a:ahLst/>
            <a:cxnLst/>
            <a:rect r="r" b="b" t="t" l="l"/>
            <a:pathLst>
              <a:path h="342900" w="352425">
                <a:moveTo>
                  <a:pt x="0" y="0"/>
                </a:moveTo>
                <a:lnTo>
                  <a:pt x="352425" y="0"/>
                </a:lnTo>
                <a:lnTo>
                  <a:pt x="352425" y="342900"/>
                </a:lnTo>
                <a:lnTo>
                  <a:pt x="0" y="342900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 l="0" t="0" r="0" b="0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false" rot="0">
            <a:off x="2085975" y="5314950"/>
            <a:ext cx="180975" cy="514350"/>
          </a:xfrm>
          <a:custGeom>
            <a:avLst/>
            <a:gdLst/>
            <a:ahLst/>
            <a:cxnLst/>
            <a:rect r="r" b="b" t="t" l="l"/>
            <a:pathLst>
              <a:path h="514350" w="180975">
                <a:moveTo>
                  <a:pt x="0" y="0"/>
                </a:moveTo>
                <a:lnTo>
                  <a:pt x="180975" y="0"/>
                </a:lnTo>
                <a:lnTo>
                  <a:pt x="180975" y="514350"/>
                </a:lnTo>
                <a:lnTo>
                  <a:pt x="0" y="514350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>
              <a:fillRect l="0" t="0" r="0" b="0"/>
            </a:stretch>
          </a:blipFill>
        </p:spPr>
      </p:sp>
      <p:sp>
        <p:nvSpPr>
          <p:cNvPr name="Freeform 18" id="18"/>
          <p:cNvSpPr/>
          <p:nvPr/>
        </p:nvSpPr>
        <p:spPr>
          <a:xfrm flipH="false" flipV="false" rot="0">
            <a:off x="2085975" y="5657850"/>
            <a:ext cx="180975" cy="342900"/>
          </a:xfrm>
          <a:custGeom>
            <a:avLst/>
            <a:gdLst/>
            <a:ahLst/>
            <a:cxnLst/>
            <a:rect r="r" b="b" t="t" l="l"/>
            <a:pathLst>
              <a:path h="342900" w="180975">
                <a:moveTo>
                  <a:pt x="0" y="0"/>
                </a:moveTo>
                <a:lnTo>
                  <a:pt x="180975" y="0"/>
                </a:lnTo>
                <a:lnTo>
                  <a:pt x="180975" y="342900"/>
                </a:lnTo>
                <a:lnTo>
                  <a:pt x="0" y="342900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>
              <a:fillRect l="0" t="0" r="0" b="0"/>
            </a:stretch>
          </a:blipFill>
        </p:spPr>
      </p:sp>
      <p:sp>
        <p:nvSpPr>
          <p:cNvPr name="Freeform 19" id="19"/>
          <p:cNvSpPr/>
          <p:nvPr/>
        </p:nvSpPr>
        <p:spPr>
          <a:xfrm flipH="false" flipV="false" rot="0">
            <a:off x="2085975" y="6000750"/>
            <a:ext cx="4714875" cy="171450"/>
          </a:xfrm>
          <a:custGeom>
            <a:avLst/>
            <a:gdLst/>
            <a:ahLst/>
            <a:cxnLst/>
            <a:rect r="r" b="b" t="t" l="l"/>
            <a:pathLst>
              <a:path h="171450" w="4714875">
                <a:moveTo>
                  <a:pt x="0" y="0"/>
                </a:moveTo>
                <a:lnTo>
                  <a:pt x="4714875" y="0"/>
                </a:lnTo>
                <a:lnTo>
                  <a:pt x="4714875" y="171450"/>
                </a:lnTo>
                <a:lnTo>
                  <a:pt x="0" y="171450"/>
                </a:lnTo>
                <a:lnTo>
                  <a:pt x="0" y="0"/>
                </a:lnTo>
                <a:close/>
              </a:path>
            </a:pathLst>
          </a:custGeom>
          <a:blipFill>
            <a:blip r:embed="rId16"/>
            <a:stretch>
              <a:fillRect l="0" t="0" r="0" b="0"/>
            </a:stretch>
          </a:blipFill>
        </p:spPr>
      </p:sp>
      <p:sp>
        <p:nvSpPr>
          <p:cNvPr name="TextBox 20" id="20"/>
          <p:cNvSpPr txBox="true"/>
          <p:nvPr/>
        </p:nvSpPr>
        <p:spPr>
          <a:xfrm rot="0">
            <a:off x="4977077" y="6194011"/>
            <a:ext cx="210689" cy="1784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422"/>
              </a:lnSpc>
            </a:pPr>
            <a:r>
              <a:rPr lang="en-US" sz="1293" spc="-38">
                <a:solidFill>
                  <a:srgbClr val="0A2350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0.3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5855585" y="6194011"/>
            <a:ext cx="211033" cy="1784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422"/>
              </a:lnSpc>
            </a:pPr>
            <a:r>
              <a:rPr lang="en-US" sz="1293" spc="-38">
                <a:solidFill>
                  <a:srgbClr val="0A2350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0.4</a:t>
            </a:r>
          </a:p>
        </p:txBody>
      </p:sp>
      <p:sp>
        <p:nvSpPr>
          <p:cNvPr name="Freeform 22" id="22"/>
          <p:cNvSpPr/>
          <p:nvPr/>
        </p:nvSpPr>
        <p:spPr>
          <a:xfrm flipH="false" flipV="false" rot="0">
            <a:off x="2085975" y="2400300"/>
            <a:ext cx="180975" cy="3771900"/>
          </a:xfrm>
          <a:custGeom>
            <a:avLst/>
            <a:gdLst/>
            <a:ahLst/>
            <a:cxnLst/>
            <a:rect r="r" b="b" t="t" l="l"/>
            <a:pathLst>
              <a:path h="3771900" w="180975">
                <a:moveTo>
                  <a:pt x="0" y="0"/>
                </a:moveTo>
                <a:lnTo>
                  <a:pt x="180975" y="0"/>
                </a:lnTo>
                <a:lnTo>
                  <a:pt x="180975" y="3771900"/>
                </a:lnTo>
                <a:lnTo>
                  <a:pt x="0" y="3771900"/>
                </a:lnTo>
                <a:lnTo>
                  <a:pt x="0" y="0"/>
                </a:lnTo>
                <a:close/>
              </a:path>
            </a:pathLst>
          </a:custGeom>
          <a:blipFill>
            <a:blip r:embed="rId17"/>
            <a:stretch>
              <a:fillRect l="0" t="0" r="0" b="0"/>
            </a:stretch>
          </a:blipFill>
        </p:spPr>
      </p:sp>
      <p:sp>
        <p:nvSpPr>
          <p:cNvPr name="Freeform 23" id="23"/>
          <p:cNvSpPr/>
          <p:nvPr/>
        </p:nvSpPr>
        <p:spPr>
          <a:xfrm flipH="false" flipV="false" rot="0">
            <a:off x="3305175" y="3257550"/>
            <a:ext cx="352425" cy="171450"/>
          </a:xfrm>
          <a:custGeom>
            <a:avLst/>
            <a:gdLst/>
            <a:ahLst/>
            <a:cxnLst/>
            <a:rect r="r" b="b" t="t" l="l"/>
            <a:pathLst>
              <a:path h="171450" w="352425">
                <a:moveTo>
                  <a:pt x="0" y="0"/>
                </a:moveTo>
                <a:lnTo>
                  <a:pt x="352425" y="0"/>
                </a:lnTo>
                <a:lnTo>
                  <a:pt x="352425" y="171450"/>
                </a:lnTo>
                <a:lnTo>
                  <a:pt x="0" y="171450"/>
                </a:lnTo>
                <a:lnTo>
                  <a:pt x="0" y="0"/>
                </a:lnTo>
                <a:close/>
              </a:path>
            </a:pathLst>
          </a:custGeom>
          <a:blipFill>
            <a:blip r:embed="rId18"/>
            <a:stretch>
              <a:fillRect l="0" t="0" r="0" b="0"/>
            </a:stretch>
          </a:blipFill>
        </p:spPr>
      </p:sp>
      <p:sp>
        <p:nvSpPr>
          <p:cNvPr name="Freeform 24" id="24"/>
          <p:cNvSpPr/>
          <p:nvPr/>
        </p:nvSpPr>
        <p:spPr>
          <a:xfrm flipH="false" flipV="false" rot="0">
            <a:off x="5219700" y="2914650"/>
            <a:ext cx="361950" cy="171450"/>
          </a:xfrm>
          <a:custGeom>
            <a:avLst/>
            <a:gdLst/>
            <a:ahLst/>
            <a:cxnLst/>
            <a:rect r="r" b="b" t="t" l="l"/>
            <a:pathLst>
              <a:path h="171450" w="361950">
                <a:moveTo>
                  <a:pt x="0" y="0"/>
                </a:moveTo>
                <a:lnTo>
                  <a:pt x="361950" y="0"/>
                </a:lnTo>
                <a:lnTo>
                  <a:pt x="361950" y="171450"/>
                </a:lnTo>
                <a:lnTo>
                  <a:pt x="0" y="171450"/>
                </a:lnTo>
                <a:lnTo>
                  <a:pt x="0" y="0"/>
                </a:lnTo>
                <a:close/>
              </a:path>
            </a:pathLst>
          </a:custGeom>
          <a:blipFill>
            <a:blip r:embed="rId19"/>
            <a:stretch>
              <a:fillRect l="0" t="0" r="0" b="0"/>
            </a:stretch>
          </a:blipFill>
        </p:spPr>
      </p:sp>
      <p:sp>
        <p:nvSpPr>
          <p:cNvPr name="Freeform 25" id="25"/>
          <p:cNvSpPr/>
          <p:nvPr/>
        </p:nvSpPr>
        <p:spPr>
          <a:xfrm flipH="false" flipV="false" rot="0">
            <a:off x="5915025" y="2571750"/>
            <a:ext cx="361950" cy="171450"/>
          </a:xfrm>
          <a:custGeom>
            <a:avLst/>
            <a:gdLst/>
            <a:ahLst/>
            <a:cxnLst/>
            <a:rect r="r" b="b" t="t" l="l"/>
            <a:pathLst>
              <a:path h="171450" w="361950">
                <a:moveTo>
                  <a:pt x="0" y="0"/>
                </a:moveTo>
                <a:lnTo>
                  <a:pt x="361950" y="0"/>
                </a:lnTo>
                <a:lnTo>
                  <a:pt x="361950" y="171450"/>
                </a:lnTo>
                <a:lnTo>
                  <a:pt x="0" y="171450"/>
                </a:lnTo>
                <a:lnTo>
                  <a:pt x="0" y="0"/>
                </a:lnTo>
                <a:close/>
              </a:path>
            </a:pathLst>
          </a:custGeom>
          <a:blipFill>
            <a:blip r:embed="rId20"/>
            <a:stretch>
              <a:fillRect l="0" t="0" r="0" b="0"/>
            </a:stretch>
          </a:blipFill>
        </p:spPr>
      </p:sp>
      <p:sp>
        <p:nvSpPr>
          <p:cNvPr name="TextBox 26" id="26"/>
          <p:cNvSpPr txBox="true"/>
          <p:nvPr/>
        </p:nvSpPr>
        <p:spPr>
          <a:xfrm rot="0">
            <a:off x="5482259" y="2895749"/>
            <a:ext cx="414093" cy="1952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52"/>
              </a:lnSpc>
            </a:pPr>
            <a:r>
              <a:rPr lang="en-US" sz="1293" spc="-51" b="true">
                <a:solidFill>
                  <a:srgbClr val="09234F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0.331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547619" y="2895749"/>
            <a:ext cx="1449697" cy="1904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432"/>
              </a:lnSpc>
            </a:pPr>
            <a:r>
              <a:rPr lang="en-US" b="true" sz="1193" spc="-47">
                <a:solidFill>
                  <a:srgbClr val="0A2350"/>
                </a:solidFill>
                <a:latin typeface="Raleway Bold"/>
                <a:ea typeface="Raleway Bold"/>
                <a:cs typeface="Raleway Bold"/>
                <a:sym typeface="Raleway Bold"/>
              </a:rPr>
              <a:t>area_construida_m2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623463" y="3763714"/>
            <a:ext cx="1373088" cy="1904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432"/>
              </a:lnSpc>
            </a:pPr>
            <a:r>
              <a:rPr lang="en-US" b="true" sz="1193" spc="-47">
                <a:solidFill>
                  <a:srgbClr val="0A2350"/>
                </a:solidFill>
                <a:latin typeface="Raleway Bold"/>
                <a:ea typeface="Raleway Bold"/>
                <a:cs typeface="Raleway Bold"/>
                <a:sym typeface="Raleway Bold"/>
              </a:rPr>
              <a:t>m2_por_habitacion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2716661" y="3763714"/>
            <a:ext cx="510787" cy="1952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52"/>
              </a:lnSpc>
            </a:pPr>
            <a:r>
              <a:rPr lang="en-US" sz="1293" spc="-51" b="true">
                <a:solidFill>
                  <a:srgbClr val="4F628B"/>
                </a:solidFill>
                <a:latin typeface="HK Grotesk Semi-Bold"/>
                <a:ea typeface="HK Grotesk Semi-Bold"/>
                <a:cs typeface="HK Grotesk Semi-Bold"/>
                <a:sym typeface="HK Grotesk Semi-Bold"/>
              </a:rPr>
              <a:t>- 0.041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1530190" y="4617326"/>
            <a:ext cx="477163" cy="1771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312"/>
              </a:lnSpc>
            </a:pPr>
            <a:r>
              <a:rPr lang="en-US" b="true" sz="1193" spc="-35">
                <a:solidFill>
                  <a:srgbClr val="0A2350"/>
                </a:solidFill>
                <a:latin typeface="Raleway Bold"/>
                <a:ea typeface="Raleway Bold"/>
                <a:cs typeface="Raleway Bold"/>
                <a:sym typeface="Raleway Bold"/>
              </a:rPr>
              <a:t>pisos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2460961" y="4626851"/>
            <a:ext cx="363268" cy="1784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22"/>
              </a:lnSpc>
            </a:pPr>
            <a:r>
              <a:rPr lang="en-US" sz="1293" spc="-38">
                <a:solidFill>
                  <a:srgbClr val="0A2350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0.016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2461338" y="5193440"/>
            <a:ext cx="325529" cy="1784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22"/>
              </a:lnSpc>
            </a:pPr>
            <a:r>
              <a:rPr lang="en-US" sz="1293" spc="-38">
                <a:solidFill>
                  <a:srgbClr val="0A2350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0.011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2460877" y="5482762"/>
            <a:ext cx="371712" cy="1784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22"/>
              </a:lnSpc>
            </a:pPr>
            <a:r>
              <a:rPr lang="en-US" sz="1293" spc="-38">
                <a:solidFill>
                  <a:srgbClr val="0A2350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0.001</a:t>
            </a:r>
          </a:p>
        </p:txBody>
      </p:sp>
      <p:sp>
        <p:nvSpPr>
          <p:cNvPr name="Freeform 34" id="34"/>
          <p:cNvSpPr/>
          <p:nvPr/>
        </p:nvSpPr>
        <p:spPr>
          <a:xfrm flipH="false" flipV="false" rot="0">
            <a:off x="6962775" y="1543050"/>
            <a:ext cx="5934075" cy="1885950"/>
          </a:xfrm>
          <a:custGeom>
            <a:avLst/>
            <a:gdLst/>
            <a:ahLst/>
            <a:cxnLst/>
            <a:rect r="r" b="b" t="t" l="l"/>
            <a:pathLst>
              <a:path h="1885950" w="5934075">
                <a:moveTo>
                  <a:pt x="0" y="0"/>
                </a:moveTo>
                <a:lnTo>
                  <a:pt x="5934075" y="0"/>
                </a:lnTo>
                <a:lnTo>
                  <a:pt x="5934075" y="1885950"/>
                </a:lnTo>
                <a:lnTo>
                  <a:pt x="0" y="1885950"/>
                </a:lnTo>
                <a:lnTo>
                  <a:pt x="0" y="0"/>
                </a:lnTo>
                <a:close/>
              </a:path>
            </a:pathLst>
          </a:custGeom>
          <a:blipFill>
            <a:blip r:embed="rId21"/>
            <a:stretch>
              <a:fillRect l="0" t="0" r="0" b="0"/>
            </a:stretch>
          </a:blipFill>
        </p:spPr>
      </p:sp>
      <p:sp>
        <p:nvSpPr>
          <p:cNvPr name="Freeform 35" id="35"/>
          <p:cNvSpPr/>
          <p:nvPr/>
        </p:nvSpPr>
        <p:spPr>
          <a:xfrm flipH="false" flipV="false" rot="0">
            <a:off x="7134225" y="1714500"/>
            <a:ext cx="885825" cy="1028700"/>
          </a:xfrm>
          <a:custGeom>
            <a:avLst/>
            <a:gdLst/>
            <a:ahLst/>
            <a:cxnLst/>
            <a:rect r="r" b="b" t="t" l="l"/>
            <a:pathLst>
              <a:path h="1028700" w="885825">
                <a:moveTo>
                  <a:pt x="0" y="0"/>
                </a:moveTo>
                <a:lnTo>
                  <a:pt x="885825" y="0"/>
                </a:lnTo>
                <a:lnTo>
                  <a:pt x="885825" y="1028700"/>
                </a:lnTo>
                <a:lnTo>
                  <a:pt x="0" y="1028700"/>
                </a:lnTo>
                <a:lnTo>
                  <a:pt x="0" y="0"/>
                </a:lnTo>
                <a:close/>
              </a:path>
            </a:pathLst>
          </a:custGeom>
          <a:blipFill>
            <a:blip r:embed="rId22"/>
            <a:stretch>
              <a:fillRect l="0" t="0" r="0" b="0"/>
            </a:stretch>
          </a:blipFill>
        </p:spPr>
      </p:sp>
      <p:sp>
        <p:nvSpPr>
          <p:cNvPr name="TextBox 36" id="36"/>
          <p:cNvSpPr txBox="true"/>
          <p:nvPr/>
        </p:nvSpPr>
        <p:spPr>
          <a:xfrm rot="0">
            <a:off x="8131164" y="1911595"/>
            <a:ext cx="1271096" cy="2056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32"/>
              </a:lnSpc>
            </a:pPr>
            <a:r>
              <a:rPr lang="en-US" b="true" sz="1532" spc="-61">
                <a:solidFill>
                  <a:srgbClr val="F6304C"/>
                </a:solidFill>
                <a:latin typeface="TT Chocolates Bold"/>
                <a:ea typeface="TT Chocolates Bold"/>
                <a:cs typeface="TT Chocolates Bold"/>
                <a:sym typeface="TT Chocolates Bold"/>
              </a:rPr>
              <a:t>DATA LEAKAGE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8120273" y="2150715"/>
            <a:ext cx="2360161" cy="2648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9"/>
              </a:lnSpc>
            </a:pPr>
            <a:r>
              <a:rPr lang="en-US" sz="1989" spc="-79" b="true">
                <a:solidFill>
                  <a:srgbClr val="09234F"/>
                </a:solidFill>
                <a:latin typeface="TT Chocolates Bold"/>
                <a:ea typeface="TT Chocolates Bold"/>
                <a:cs typeface="TT Chocolates Bold"/>
                <a:sym typeface="TT Chocolates Bold"/>
              </a:rPr>
              <a:t>Detectado y corregido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8119091" y="2471291"/>
            <a:ext cx="2478364" cy="6286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70"/>
              </a:lnSpc>
            </a:pPr>
            <a:r>
              <a:rPr lang="en-US" sz="1392" spc="-55" b="true">
                <a:solidFill>
                  <a:srgbClr val="4F628B"/>
                </a:solidFill>
                <a:latin typeface="Raleway Semi-Bold"/>
                <a:ea typeface="Raleway Semi-Bold"/>
                <a:cs typeface="Raleway Semi-Bold"/>
                <a:sym typeface="Raleway Semi-Bold"/>
              </a:rPr>
              <a:t>Se excluyó precio_por soft por estar derivado del precio objetivo.</a:t>
            </a:r>
          </a:p>
        </p:txBody>
      </p:sp>
      <p:sp>
        <p:nvSpPr>
          <p:cNvPr name="Freeform 39" id="39"/>
          <p:cNvSpPr/>
          <p:nvPr/>
        </p:nvSpPr>
        <p:spPr>
          <a:xfrm flipH="false" flipV="false" rot="0">
            <a:off x="10791825" y="1714500"/>
            <a:ext cx="1924050" cy="1543050"/>
          </a:xfrm>
          <a:custGeom>
            <a:avLst/>
            <a:gdLst/>
            <a:ahLst/>
            <a:cxnLst/>
            <a:rect r="r" b="b" t="t" l="l"/>
            <a:pathLst>
              <a:path h="1543050" w="1924050">
                <a:moveTo>
                  <a:pt x="0" y="0"/>
                </a:moveTo>
                <a:lnTo>
                  <a:pt x="1924050" y="0"/>
                </a:lnTo>
                <a:lnTo>
                  <a:pt x="1924050" y="1543050"/>
                </a:lnTo>
                <a:lnTo>
                  <a:pt x="0" y="1543050"/>
                </a:lnTo>
                <a:lnTo>
                  <a:pt x="0" y="0"/>
                </a:lnTo>
                <a:close/>
              </a:path>
            </a:pathLst>
          </a:custGeom>
          <a:blipFill>
            <a:blip r:embed="rId23"/>
            <a:stretch>
              <a:fillRect l="0" t="0" r="0" b="0"/>
            </a:stretch>
          </a:blipFill>
        </p:spPr>
      </p:sp>
      <p:sp>
        <p:nvSpPr>
          <p:cNvPr name="TextBox 40" id="40"/>
          <p:cNvSpPr txBox="true"/>
          <p:nvPr/>
        </p:nvSpPr>
        <p:spPr>
          <a:xfrm rot="0">
            <a:off x="11032763" y="1993999"/>
            <a:ext cx="738985" cy="2343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27"/>
              </a:lnSpc>
            </a:pPr>
            <a:r>
              <a:rPr lang="en-US" sz="1727" spc="-69" b="true">
                <a:solidFill>
                  <a:srgbClr val="09234F"/>
                </a:solidFill>
                <a:latin typeface="TT Chocolates Bold"/>
                <a:ea typeface="TT Chocolates Bold"/>
                <a:cs typeface="TT Chocolates Bold"/>
                <a:sym typeface="TT Chocolates Bold"/>
              </a:rPr>
              <a:t>R² log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11027883" y="2222964"/>
            <a:ext cx="921083" cy="2989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07"/>
              </a:lnSpc>
            </a:pPr>
            <a:r>
              <a:rPr lang="en-US" sz="2207" spc="-88" b="true">
                <a:solidFill>
                  <a:srgbClr val="09234F"/>
                </a:solidFill>
                <a:latin typeface="TT Chocolates Bold"/>
                <a:ea typeface="TT Chocolates Bold"/>
                <a:cs typeface="TT Chocolates Bold"/>
                <a:sym typeface="TT Chocolates Bold"/>
              </a:rPr>
              <a:t>0.72  →</a:t>
            </a:r>
          </a:p>
        </p:txBody>
      </p:sp>
      <p:sp>
        <p:nvSpPr>
          <p:cNvPr name="TextBox 42" id="42"/>
          <p:cNvSpPr txBox="true"/>
          <p:nvPr/>
        </p:nvSpPr>
        <p:spPr>
          <a:xfrm rot="0">
            <a:off x="11888385" y="2232749"/>
            <a:ext cx="595911" cy="3235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25"/>
              </a:lnSpc>
            </a:pPr>
            <a:r>
              <a:rPr lang="en-US" sz="2425" spc="-97" b="true">
                <a:solidFill>
                  <a:srgbClr val="F65C0C"/>
                </a:solidFill>
                <a:latin typeface="TT Chocolates Bold"/>
                <a:ea typeface="TT Chocolates Bold"/>
                <a:cs typeface="TT Chocolates Bold"/>
                <a:sym typeface="TT Chocolates Bold"/>
              </a:rPr>
              <a:t>0.97</a:t>
            </a:r>
          </a:p>
        </p:txBody>
      </p:sp>
      <p:sp>
        <p:nvSpPr>
          <p:cNvPr name="TextBox 43" id="43"/>
          <p:cNvSpPr txBox="true"/>
          <p:nvPr/>
        </p:nvSpPr>
        <p:spPr>
          <a:xfrm rot="0">
            <a:off x="11023609" y="2591842"/>
            <a:ext cx="1379401" cy="5714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52"/>
              </a:lnSpc>
            </a:pPr>
            <a:r>
              <a:rPr lang="en-US" sz="1293" spc="-51" b="true">
                <a:solidFill>
                  <a:srgbClr val="4F628B"/>
                </a:solidFill>
                <a:latin typeface="Raleway Semi-Bold"/>
                <a:ea typeface="Raleway Semi-Bold"/>
                <a:cs typeface="Raleway Semi-Bold"/>
                <a:sym typeface="Raleway Semi-Bold"/>
              </a:rPr>
              <a:t>Al incluir la variable derivada del precio.</a:t>
            </a:r>
          </a:p>
        </p:txBody>
      </p:sp>
      <p:sp>
        <p:nvSpPr>
          <p:cNvPr name="Freeform 44" id="44"/>
          <p:cNvSpPr/>
          <p:nvPr/>
        </p:nvSpPr>
        <p:spPr>
          <a:xfrm flipH="false" flipV="false" rot="0">
            <a:off x="6962775" y="3257550"/>
            <a:ext cx="5934075" cy="1847850"/>
          </a:xfrm>
          <a:custGeom>
            <a:avLst/>
            <a:gdLst/>
            <a:ahLst/>
            <a:cxnLst/>
            <a:rect r="r" b="b" t="t" l="l"/>
            <a:pathLst>
              <a:path h="1847850" w="5934075">
                <a:moveTo>
                  <a:pt x="0" y="0"/>
                </a:moveTo>
                <a:lnTo>
                  <a:pt x="5934075" y="0"/>
                </a:lnTo>
                <a:lnTo>
                  <a:pt x="5934075" y="1847850"/>
                </a:lnTo>
                <a:lnTo>
                  <a:pt x="0" y="1847850"/>
                </a:lnTo>
                <a:lnTo>
                  <a:pt x="0" y="0"/>
                </a:lnTo>
                <a:close/>
              </a:path>
            </a:pathLst>
          </a:custGeom>
          <a:blipFill>
            <a:blip r:embed="rId24"/>
            <a:stretch>
              <a:fillRect l="0" t="0" r="0" b="-11340"/>
            </a:stretch>
          </a:blipFill>
        </p:spPr>
      </p:sp>
      <p:sp>
        <p:nvSpPr>
          <p:cNvPr name="Freeform 45" id="45"/>
          <p:cNvSpPr/>
          <p:nvPr/>
        </p:nvSpPr>
        <p:spPr>
          <a:xfrm flipH="false" flipV="false" rot="0">
            <a:off x="7134225" y="3429000"/>
            <a:ext cx="885825" cy="1028700"/>
          </a:xfrm>
          <a:custGeom>
            <a:avLst/>
            <a:gdLst/>
            <a:ahLst/>
            <a:cxnLst/>
            <a:rect r="r" b="b" t="t" l="l"/>
            <a:pathLst>
              <a:path h="1028700" w="885825">
                <a:moveTo>
                  <a:pt x="0" y="0"/>
                </a:moveTo>
                <a:lnTo>
                  <a:pt x="885825" y="0"/>
                </a:lnTo>
                <a:lnTo>
                  <a:pt x="885825" y="1028700"/>
                </a:lnTo>
                <a:lnTo>
                  <a:pt x="0" y="1028700"/>
                </a:lnTo>
                <a:lnTo>
                  <a:pt x="0" y="0"/>
                </a:lnTo>
                <a:close/>
              </a:path>
            </a:pathLst>
          </a:custGeom>
          <a:blipFill>
            <a:blip r:embed="rId25"/>
            <a:stretch>
              <a:fillRect l="0" t="0" r="0" b="0"/>
            </a:stretch>
          </a:blipFill>
        </p:spPr>
      </p:sp>
      <p:sp>
        <p:nvSpPr>
          <p:cNvPr name="TextBox 46" id="46"/>
          <p:cNvSpPr txBox="true"/>
          <p:nvPr/>
        </p:nvSpPr>
        <p:spPr>
          <a:xfrm rot="0">
            <a:off x="8133864" y="3563141"/>
            <a:ext cx="1001069" cy="2056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32"/>
              </a:lnSpc>
            </a:pPr>
            <a:r>
              <a:rPr lang="en-US" b="true" sz="1532" spc="-61">
                <a:solidFill>
                  <a:srgbClr val="09A282"/>
                </a:solidFill>
                <a:latin typeface="TT Chocolates Bold"/>
                <a:ea typeface="TT Chocolates Bold"/>
                <a:cs typeface="TT Chocolates Bold"/>
                <a:sym typeface="TT Chocolates Bold"/>
              </a:rPr>
              <a:t>DATA DRIFT</a:t>
            </a:r>
          </a:p>
        </p:txBody>
      </p:sp>
      <p:sp>
        <p:nvSpPr>
          <p:cNvPr name="TextBox 47" id="47"/>
          <p:cNvSpPr txBox="true"/>
          <p:nvPr/>
        </p:nvSpPr>
        <p:spPr>
          <a:xfrm rot="0">
            <a:off x="8123617" y="3814316"/>
            <a:ext cx="2025773" cy="2648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9"/>
              </a:lnSpc>
            </a:pPr>
            <a:r>
              <a:rPr lang="en-US" sz="1989" spc="-79" b="true">
                <a:solidFill>
                  <a:srgbClr val="09234F"/>
                </a:solidFill>
                <a:latin typeface="TT Chocolates Bold"/>
                <a:ea typeface="TT Chocolates Bold"/>
                <a:cs typeface="TT Chocolates Bold"/>
                <a:sym typeface="TT Chocolates Bold"/>
              </a:rPr>
              <a:t>Sin deriva relevante</a:t>
            </a:r>
          </a:p>
        </p:txBody>
      </p:sp>
      <p:sp>
        <p:nvSpPr>
          <p:cNvPr name="TextBox 48" id="48"/>
          <p:cNvSpPr txBox="true"/>
          <p:nvPr/>
        </p:nvSpPr>
        <p:spPr>
          <a:xfrm rot="0">
            <a:off x="8185309" y="4175286"/>
            <a:ext cx="2295126" cy="5801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69"/>
              </a:lnSpc>
            </a:pPr>
            <a:r>
              <a:rPr lang="en-US" sz="1427" spc="-42">
                <a:solidFill>
                  <a:srgbClr val="0A2350"/>
                </a:solidFill>
                <a:latin typeface="Raleway"/>
                <a:ea typeface="Raleway"/>
                <a:cs typeface="Raleway"/>
                <a:sym typeface="Raleway"/>
              </a:rPr>
              <a:t>Datos de 2014; no garantizan estabilidad del mercado actual.</a:t>
            </a:r>
          </a:p>
        </p:txBody>
      </p:sp>
      <p:sp>
        <p:nvSpPr>
          <p:cNvPr name="Freeform 49" id="49"/>
          <p:cNvSpPr/>
          <p:nvPr/>
        </p:nvSpPr>
        <p:spPr>
          <a:xfrm flipH="false" flipV="false" rot="0">
            <a:off x="10791825" y="3429000"/>
            <a:ext cx="1924050" cy="1714500"/>
          </a:xfrm>
          <a:custGeom>
            <a:avLst/>
            <a:gdLst/>
            <a:ahLst/>
            <a:cxnLst/>
            <a:rect r="r" b="b" t="t" l="l"/>
            <a:pathLst>
              <a:path h="1714500" w="1924050">
                <a:moveTo>
                  <a:pt x="0" y="0"/>
                </a:moveTo>
                <a:lnTo>
                  <a:pt x="1924050" y="0"/>
                </a:lnTo>
                <a:lnTo>
                  <a:pt x="1924050" y="1714500"/>
                </a:lnTo>
                <a:lnTo>
                  <a:pt x="0" y="1714500"/>
                </a:lnTo>
                <a:lnTo>
                  <a:pt x="0" y="0"/>
                </a:lnTo>
                <a:close/>
              </a:path>
            </a:pathLst>
          </a:custGeom>
          <a:blipFill>
            <a:blip r:embed="rId26"/>
            <a:stretch>
              <a:fillRect l="0" t="0" r="0" b="0"/>
            </a:stretch>
          </a:blipFill>
        </p:spPr>
      </p:sp>
      <p:sp>
        <p:nvSpPr>
          <p:cNvPr name="TextBox 50" id="50"/>
          <p:cNvSpPr txBox="true"/>
          <p:nvPr/>
        </p:nvSpPr>
        <p:spPr>
          <a:xfrm rot="0">
            <a:off x="11049697" y="3744516"/>
            <a:ext cx="1136643" cy="2223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27"/>
              </a:lnSpc>
            </a:pPr>
            <a:r>
              <a:rPr lang="en-US" sz="1627" spc="-65" b="true">
                <a:solidFill>
                  <a:srgbClr val="09234F"/>
                </a:solidFill>
                <a:latin typeface="TT Chocolates Bold"/>
                <a:ea typeface="TT Chocolates Bold"/>
                <a:cs typeface="TT Chocolates Bold"/>
                <a:sym typeface="TT Chocolates Bold"/>
              </a:rPr>
              <a:t>PSI máximo</a:t>
            </a:r>
          </a:p>
        </p:txBody>
      </p:sp>
      <p:sp>
        <p:nvSpPr>
          <p:cNvPr name="TextBox 51" id="51"/>
          <p:cNvSpPr txBox="true"/>
          <p:nvPr/>
        </p:nvSpPr>
        <p:spPr>
          <a:xfrm rot="0">
            <a:off x="11027179" y="4035750"/>
            <a:ext cx="991466" cy="3906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04"/>
              </a:lnSpc>
            </a:pPr>
            <a:r>
              <a:rPr lang="en-US" sz="3004" spc="-120" b="true">
                <a:solidFill>
                  <a:srgbClr val="09A282"/>
                </a:solidFill>
                <a:latin typeface="TT Chocolates Bold"/>
                <a:ea typeface="TT Chocolates Bold"/>
                <a:cs typeface="TT Chocolates Bold"/>
                <a:sym typeface="TT Chocolates Bold"/>
              </a:rPr>
              <a:t>&lt; 0.03</a:t>
            </a:r>
          </a:p>
        </p:txBody>
      </p:sp>
      <p:sp>
        <p:nvSpPr>
          <p:cNvPr name="TextBox 52" id="52"/>
          <p:cNvSpPr txBox="true"/>
          <p:nvPr/>
        </p:nvSpPr>
        <p:spPr>
          <a:xfrm rot="0">
            <a:off x="11043969" y="4470135"/>
            <a:ext cx="1455558" cy="3498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22"/>
              </a:lnSpc>
            </a:pPr>
            <a:r>
              <a:rPr lang="en-US" sz="1293" spc="-38">
                <a:solidFill>
                  <a:srgbClr val="0A2350"/>
                </a:solidFill>
                <a:latin typeface="Raleway"/>
                <a:ea typeface="Raleway"/>
                <a:cs typeface="Raleway"/>
                <a:sym typeface="Raleway"/>
              </a:rPr>
              <a:t>en todas las variables revisadas.</a:t>
            </a:r>
          </a:p>
        </p:txBody>
      </p:sp>
      <p:sp>
        <p:nvSpPr>
          <p:cNvPr name="Freeform 53" id="53"/>
          <p:cNvSpPr/>
          <p:nvPr/>
        </p:nvSpPr>
        <p:spPr>
          <a:xfrm flipH="false" flipV="false" rot="0">
            <a:off x="6962775" y="5029555"/>
            <a:ext cx="5934075" cy="1999895"/>
          </a:xfrm>
          <a:custGeom>
            <a:avLst/>
            <a:gdLst/>
            <a:ahLst/>
            <a:cxnLst/>
            <a:rect r="r" b="b" t="t" l="l"/>
            <a:pathLst>
              <a:path h="1999895" w="5934075">
                <a:moveTo>
                  <a:pt x="0" y="0"/>
                </a:moveTo>
                <a:lnTo>
                  <a:pt x="5934075" y="0"/>
                </a:lnTo>
                <a:lnTo>
                  <a:pt x="5934075" y="1999895"/>
                </a:lnTo>
                <a:lnTo>
                  <a:pt x="0" y="1999895"/>
                </a:lnTo>
                <a:lnTo>
                  <a:pt x="0" y="0"/>
                </a:lnTo>
                <a:close/>
              </a:path>
            </a:pathLst>
          </a:custGeom>
          <a:blipFill>
            <a:blip r:embed="rId27"/>
            <a:stretch>
              <a:fillRect l="-3020" t="0" r="-3020" b="0"/>
            </a:stretch>
          </a:blipFill>
        </p:spPr>
      </p:sp>
      <p:sp>
        <p:nvSpPr>
          <p:cNvPr name="Freeform 54" id="54"/>
          <p:cNvSpPr/>
          <p:nvPr/>
        </p:nvSpPr>
        <p:spPr>
          <a:xfrm flipH="false" flipV="false" rot="0">
            <a:off x="7134225" y="5314950"/>
            <a:ext cx="885825" cy="1028700"/>
          </a:xfrm>
          <a:custGeom>
            <a:avLst/>
            <a:gdLst/>
            <a:ahLst/>
            <a:cxnLst/>
            <a:rect r="r" b="b" t="t" l="l"/>
            <a:pathLst>
              <a:path h="1028700" w="885825">
                <a:moveTo>
                  <a:pt x="0" y="0"/>
                </a:moveTo>
                <a:lnTo>
                  <a:pt x="885825" y="0"/>
                </a:lnTo>
                <a:lnTo>
                  <a:pt x="885825" y="1028700"/>
                </a:lnTo>
                <a:lnTo>
                  <a:pt x="0" y="1028700"/>
                </a:lnTo>
                <a:lnTo>
                  <a:pt x="0" y="0"/>
                </a:lnTo>
                <a:close/>
              </a:path>
            </a:pathLst>
          </a:custGeom>
          <a:blipFill>
            <a:blip r:embed="rId28"/>
            <a:stretch>
              <a:fillRect l="0" t="0" r="0" b="0"/>
            </a:stretch>
          </a:blipFill>
        </p:spPr>
      </p:sp>
      <p:sp>
        <p:nvSpPr>
          <p:cNvPr name="TextBox 55" id="55"/>
          <p:cNvSpPr txBox="true"/>
          <p:nvPr/>
        </p:nvSpPr>
        <p:spPr>
          <a:xfrm rot="0">
            <a:off x="8133864" y="5325699"/>
            <a:ext cx="1272705" cy="1784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22"/>
              </a:lnSpc>
            </a:pPr>
            <a:r>
              <a:rPr lang="en-US" b="true" sz="1293" spc="-38">
                <a:solidFill>
                  <a:srgbClr val="F16718"/>
                </a:solidFill>
                <a:latin typeface="TT Commons Pro Bold"/>
                <a:ea typeface="TT Commons Pro Bold"/>
                <a:cs typeface="TT Commons Pro Bold"/>
                <a:sym typeface="TT Commons Pro Bold"/>
              </a:rPr>
              <a:t>CORRECCIONES</a:t>
            </a:r>
          </a:p>
        </p:txBody>
      </p:sp>
      <p:sp>
        <p:nvSpPr>
          <p:cNvPr name="TextBox 56" id="56"/>
          <p:cNvSpPr txBox="true"/>
          <p:nvPr/>
        </p:nvSpPr>
        <p:spPr>
          <a:xfrm rot="0">
            <a:off x="8133864" y="5560639"/>
            <a:ext cx="2050256" cy="2686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22"/>
              </a:lnSpc>
            </a:pPr>
            <a:r>
              <a:rPr lang="en-US" sz="2021" spc="-60" b="true">
                <a:solidFill>
                  <a:srgbClr val="0A2350"/>
                </a:solidFill>
                <a:latin typeface="TT Commons Pro Bold"/>
                <a:ea typeface="TT Commons Pro Bold"/>
                <a:cs typeface="TT Commons Pro Bold"/>
                <a:sym typeface="TT Commons Pro Bold"/>
              </a:rPr>
              <a:t>Datos más limpios</a:t>
            </a:r>
          </a:p>
        </p:txBody>
      </p:sp>
      <p:sp>
        <p:nvSpPr>
          <p:cNvPr name="Freeform 57" id="57"/>
          <p:cNvSpPr/>
          <p:nvPr/>
        </p:nvSpPr>
        <p:spPr>
          <a:xfrm flipH="false" flipV="false" rot="0">
            <a:off x="8181975" y="6000750"/>
            <a:ext cx="180975" cy="342900"/>
          </a:xfrm>
          <a:custGeom>
            <a:avLst/>
            <a:gdLst/>
            <a:ahLst/>
            <a:cxnLst/>
            <a:rect r="r" b="b" t="t" l="l"/>
            <a:pathLst>
              <a:path h="342900" w="180975">
                <a:moveTo>
                  <a:pt x="0" y="0"/>
                </a:moveTo>
                <a:lnTo>
                  <a:pt x="180975" y="0"/>
                </a:lnTo>
                <a:lnTo>
                  <a:pt x="180975" y="342900"/>
                </a:lnTo>
                <a:lnTo>
                  <a:pt x="0" y="342900"/>
                </a:lnTo>
                <a:lnTo>
                  <a:pt x="0" y="0"/>
                </a:lnTo>
                <a:close/>
              </a:path>
            </a:pathLst>
          </a:custGeom>
          <a:blipFill>
            <a:blip r:embed="rId29"/>
            <a:stretch>
              <a:fillRect l="0" t="0" r="0" b="0"/>
            </a:stretch>
          </a:blipFill>
        </p:spPr>
      </p:sp>
      <p:sp>
        <p:nvSpPr>
          <p:cNvPr name="Freeform 58" id="58"/>
          <p:cNvSpPr/>
          <p:nvPr/>
        </p:nvSpPr>
        <p:spPr>
          <a:xfrm flipH="false" flipV="false" rot="0">
            <a:off x="8181975" y="5915025"/>
            <a:ext cx="180975" cy="342900"/>
          </a:xfrm>
          <a:custGeom>
            <a:avLst/>
            <a:gdLst/>
            <a:ahLst/>
            <a:cxnLst/>
            <a:rect r="r" b="b" t="t" l="l"/>
            <a:pathLst>
              <a:path h="342900" w="180975">
                <a:moveTo>
                  <a:pt x="0" y="0"/>
                </a:moveTo>
                <a:lnTo>
                  <a:pt x="180975" y="0"/>
                </a:lnTo>
                <a:lnTo>
                  <a:pt x="180975" y="342900"/>
                </a:lnTo>
                <a:lnTo>
                  <a:pt x="0" y="342900"/>
                </a:lnTo>
                <a:lnTo>
                  <a:pt x="0" y="0"/>
                </a:lnTo>
                <a:close/>
              </a:path>
            </a:pathLst>
          </a:custGeom>
          <a:blipFill>
            <a:blip r:embed="rId30"/>
            <a:stretch>
              <a:fillRect l="0" t="0" r="0" b="0"/>
            </a:stretch>
          </a:blipFill>
        </p:spPr>
      </p:sp>
      <p:sp>
        <p:nvSpPr>
          <p:cNvPr name="Freeform 59" id="59"/>
          <p:cNvSpPr/>
          <p:nvPr/>
        </p:nvSpPr>
        <p:spPr>
          <a:xfrm flipH="false" flipV="false" rot="0">
            <a:off x="8181975" y="6686550"/>
            <a:ext cx="180975" cy="171450"/>
          </a:xfrm>
          <a:custGeom>
            <a:avLst/>
            <a:gdLst/>
            <a:ahLst/>
            <a:cxnLst/>
            <a:rect r="r" b="b" t="t" l="l"/>
            <a:pathLst>
              <a:path h="171450" w="180975">
                <a:moveTo>
                  <a:pt x="0" y="0"/>
                </a:moveTo>
                <a:lnTo>
                  <a:pt x="180975" y="0"/>
                </a:lnTo>
                <a:lnTo>
                  <a:pt x="180975" y="171450"/>
                </a:lnTo>
                <a:lnTo>
                  <a:pt x="0" y="171450"/>
                </a:lnTo>
                <a:lnTo>
                  <a:pt x="0" y="0"/>
                </a:lnTo>
                <a:close/>
              </a:path>
            </a:pathLst>
          </a:custGeom>
          <a:blipFill>
            <a:blip r:embed="rId31"/>
            <a:stretch>
              <a:fillRect l="0" t="0" r="0" b="0"/>
            </a:stretch>
          </a:blipFill>
        </p:spPr>
      </p:sp>
      <p:sp>
        <p:nvSpPr>
          <p:cNvPr name="TextBox 60" id="60"/>
          <p:cNvSpPr txBox="true"/>
          <p:nvPr/>
        </p:nvSpPr>
        <p:spPr>
          <a:xfrm rot="0">
            <a:off x="8416218" y="5953125"/>
            <a:ext cx="3535804" cy="1987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32"/>
              </a:lnSpc>
            </a:pPr>
            <a:r>
              <a:rPr lang="en-US" sz="1393" spc="-41">
                <a:solidFill>
                  <a:srgbClr val="0A2350"/>
                </a:solidFill>
                <a:latin typeface="Raleway"/>
                <a:ea typeface="Raleway"/>
                <a:cs typeface="Raleway"/>
                <a:sym typeface="Raleway"/>
              </a:rPr>
              <a:t>Exclusión de variables derivadas del objetivo.</a:t>
            </a:r>
          </a:p>
        </p:txBody>
      </p:sp>
      <p:sp>
        <p:nvSpPr>
          <p:cNvPr name="TextBox 61" id="61"/>
          <p:cNvSpPr txBox="true"/>
          <p:nvPr/>
        </p:nvSpPr>
        <p:spPr>
          <a:xfrm rot="0">
            <a:off x="8409169" y="6278397"/>
            <a:ext cx="3542853" cy="3892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32"/>
              </a:lnSpc>
            </a:pPr>
            <a:r>
              <a:rPr lang="en-US" sz="1393" spc="-41">
                <a:solidFill>
                  <a:srgbClr val="0A2350"/>
                </a:solidFill>
                <a:latin typeface="Raleway"/>
                <a:ea typeface="Raleway"/>
                <a:cs typeface="Raleway"/>
                <a:sym typeface="Raleway"/>
              </a:rPr>
              <a:t>Revisión de variables redundantes (p. ej., ubicación premium con vista).</a:t>
            </a:r>
          </a:p>
        </p:txBody>
      </p:sp>
      <p:sp>
        <p:nvSpPr>
          <p:cNvPr name="Freeform 62" id="62"/>
          <p:cNvSpPr/>
          <p:nvPr/>
        </p:nvSpPr>
        <p:spPr>
          <a:xfrm flipH="false" flipV="false" rot="0">
            <a:off x="171450" y="7029450"/>
            <a:ext cx="14287500" cy="1028700"/>
          </a:xfrm>
          <a:custGeom>
            <a:avLst/>
            <a:gdLst/>
            <a:ahLst/>
            <a:cxnLst/>
            <a:rect r="r" b="b" t="t" l="l"/>
            <a:pathLst>
              <a:path h="1028700" w="14287500">
                <a:moveTo>
                  <a:pt x="0" y="0"/>
                </a:moveTo>
                <a:lnTo>
                  <a:pt x="14287500" y="0"/>
                </a:lnTo>
                <a:lnTo>
                  <a:pt x="14287500" y="1028700"/>
                </a:lnTo>
                <a:lnTo>
                  <a:pt x="0" y="1028700"/>
                </a:lnTo>
                <a:lnTo>
                  <a:pt x="0" y="0"/>
                </a:lnTo>
                <a:close/>
              </a:path>
            </a:pathLst>
          </a:custGeom>
          <a:blipFill>
            <a:blip r:embed="rId32"/>
            <a:stretch>
              <a:fillRect l="0" t="0" r="0" b="0"/>
            </a:stretch>
          </a:blipFill>
        </p:spPr>
      </p:sp>
      <p:sp>
        <p:nvSpPr>
          <p:cNvPr name="Freeform 63" id="63"/>
          <p:cNvSpPr/>
          <p:nvPr/>
        </p:nvSpPr>
        <p:spPr>
          <a:xfrm flipH="false" flipV="false" rot="0">
            <a:off x="514350" y="7200900"/>
            <a:ext cx="704850" cy="685800"/>
          </a:xfrm>
          <a:custGeom>
            <a:avLst/>
            <a:gdLst/>
            <a:ahLst/>
            <a:cxnLst/>
            <a:rect r="r" b="b" t="t" l="l"/>
            <a:pathLst>
              <a:path h="685800" w="704850">
                <a:moveTo>
                  <a:pt x="0" y="0"/>
                </a:moveTo>
                <a:lnTo>
                  <a:pt x="704850" y="0"/>
                </a:lnTo>
                <a:lnTo>
                  <a:pt x="704850" y="685800"/>
                </a:lnTo>
                <a:lnTo>
                  <a:pt x="0" y="685800"/>
                </a:lnTo>
                <a:lnTo>
                  <a:pt x="0" y="0"/>
                </a:lnTo>
                <a:close/>
              </a:path>
            </a:pathLst>
          </a:custGeom>
          <a:blipFill>
            <a:blip r:embed="rId33"/>
            <a:stretch>
              <a:fillRect l="0" t="0" r="0" b="0"/>
            </a:stretch>
          </a:blipFill>
        </p:spPr>
      </p:sp>
      <p:sp>
        <p:nvSpPr>
          <p:cNvPr name="Freeform 64" id="64"/>
          <p:cNvSpPr/>
          <p:nvPr/>
        </p:nvSpPr>
        <p:spPr>
          <a:xfrm flipH="false" flipV="false" rot="0">
            <a:off x="1390650" y="7200900"/>
            <a:ext cx="180975" cy="685800"/>
          </a:xfrm>
          <a:custGeom>
            <a:avLst/>
            <a:gdLst/>
            <a:ahLst/>
            <a:cxnLst/>
            <a:rect r="r" b="b" t="t" l="l"/>
            <a:pathLst>
              <a:path h="685800" w="180975">
                <a:moveTo>
                  <a:pt x="0" y="0"/>
                </a:moveTo>
                <a:lnTo>
                  <a:pt x="180975" y="0"/>
                </a:lnTo>
                <a:lnTo>
                  <a:pt x="180975" y="685800"/>
                </a:lnTo>
                <a:lnTo>
                  <a:pt x="0" y="685800"/>
                </a:lnTo>
                <a:lnTo>
                  <a:pt x="0" y="0"/>
                </a:lnTo>
                <a:close/>
              </a:path>
            </a:pathLst>
          </a:custGeom>
          <a:blipFill>
            <a:blip r:embed="rId34"/>
            <a:stretch>
              <a:fillRect l="0" t="0" r="0" b="0"/>
            </a:stretch>
          </a:blipFill>
        </p:spPr>
      </p:sp>
      <p:sp>
        <p:nvSpPr>
          <p:cNvPr name="TextBox 65" id="65"/>
          <p:cNvSpPr txBox="true"/>
          <p:nvPr/>
        </p:nvSpPr>
        <p:spPr>
          <a:xfrm rot="0">
            <a:off x="1933293" y="7394374"/>
            <a:ext cx="1695116" cy="3466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87"/>
              </a:lnSpc>
            </a:pPr>
            <a:r>
              <a:rPr lang="en-US" sz="2534" spc="-75" b="true">
                <a:solidFill>
                  <a:srgbClr val="F16718"/>
                </a:solidFill>
                <a:latin typeface="TT Commons Pro Bold"/>
                <a:ea typeface="TT Commons Pro Bold"/>
                <a:cs typeface="TT Commons Pro Bold"/>
                <a:sym typeface="TT Commons Pro Bold"/>
              </a:rPr>
              <a:t>Conclusión:</a:t>
            </a:r>
          </a:p>
        </p:txBody>
      </p:sp>
      <p:sp>
        <p:nvSpPr>
          <p:cNvPr name="Freeform 66" id="66"/>
          <p:cNvSpPr/>
          <p:nvPr/>
        </p:nvSpPr>
        <p:spPr>
          <a:xfrm flipH="false" flipV="false" rot="0">
            <a:off x="3829050" y="7200900"/>
            <a:ext cx="180975" cy="685800"/>
          </a:xfrm>
          <a:custGeom>
            <a:avLst/>
            <a:gdLst/>
            <a:ahLst/>
            <a:cxnLst/>
            <a:rect r="r" b="b" t="t" l="l"/>
            <a:pathLst>
              <a:path h="685800" w="180975">
                <a:moveTo>
                  <a:pt x="0" y="0"/>
                </a:moveTo>
                <a:lnTo>
                  <a:pt x="180975" y="0"/>
                </a:lnTo>
                <a:lnTo>
                  <a:pt x="180975" y="685800"/>
                </a:lnTo>
                <a:lnTo>
                  <a:pt x="0" y="685800"/>
                </a:lnTo>
                <a:lnTo>
                  <a:pt x="0" y="0"/>
                </a:lnTo>
                <a:close/>
              </a:path>
            </a:pathLst>
          </a:custGeom>
          <a:blipFill>
            <a:blip r:embed="rId35"/>
            <a:stretch>
              <a:fillRect l="0" t="0" r="0" b="0"/>
            </a:stretch>
          </a:blipFill>
        </p:spPr>
      </p:sp>
      <p:sp>
        <p:nvSpPr>
          <p:cNvPr name="TextBox 67" id="67"/>
          <p:cNvSpPr txBox="true"/>
          <p:nvPr/>
        </p:nvSpPr>
        <p:spPr>
          <a:xfrm rot="0">
            <a:off x="4109892" y="7319962"/>
            <a:ext cx="9648970" cy="4666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39"/>
              </a:lnSpc>
            </a:pPr>
            <a:r>
              <a:rPr lang="en-US" sz="1532" spc="-14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Se detectó y corrigió la fuga de datos, no se observó deriva relevante en las comparaciones realizadas</a:t>
            </a:r>
          </a:p>
          <a:p>
            <a:pPr algn="l">
              <a:lnSpc>
                <a:spcPts val="1839"/>
              </a:lnSpc>
            </a:pPr>
            <a:r>
              <a:rPr lang="en-US" sz="1532" spc="-14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y se revisaron variables redundantes. El modelo queda listo para entrenar XGBoost y optimizar con Optuna.</a:t>
            </a:r>
          </a:p>
        </p:txBody>
      </p:sp>
      <p:sp>
        <p:nvSpPr>
          <p:cNvPr name="Freeform 68" id="68"/>
          <p:cNvSpPr/>
          <p:nvPr/>
        </p:nvSpPr>
        <p:spPr>
          <a:xfrm flipH="false" flipV="false" rot="0">
            <a:off x="12534900" y="0"/>
            <a:ext cx="2095500" cy="1200150"/>
          </a:xfrm>
          <a:custGeom>
            <a:avLst/>
            <a:gdLst/>
            <a:ahLst/>
            <a:cxnLst/>
            <a:rect r="r" b="b" t="t" l="l"/>
            <a:pathLst>
              <a:path h="1200150" w="2095500">
                <a:moveTo>
                  <a:pt x="0" y="0"/>
                </a:moveTo>
                <a:lnTo>
                  <a:pt x="2095500" y="0"/>
                </a:lnTo>
                <a:lnTo>
                  <a:pt x="2095500" y="1200150"/>
                </a:lnTo>
                <a:lnTo>
                  <a:pt x="0" y="1200150"/>
                </a:lnTo>
                <a:lnTo>
                  <a:pt x="0" y="0"/>
                </a:lnTo>
                <a:close/>
              </a:path>
            </a:pathLst>
          </a:custGeom>
          <a:blipFill>
            <a:blip r:embed="rId36"/>
            <a:stretch>
              <a:fillRect l="0" t="0" r="0" b="0"/>
            </a:stretch>
          </a:blipFill>
        </p:spPr>
      </p:sp>
      <p:sp>
        <p:nvSpPr>
          <p:cNvPr name="Freeform 69" id="69"/>
          <p:cNvSpPr/>
          <p:nvPr/>
        </p:nvSpPr>
        <p:spPr>
          <a:xfrm flipH="false" flipV="false" rot="0">
            <a:off x="12534900" y="0"/>
            <a:ext cx="2095500" cy="7029450"/>
          </a:xfrm>
          <a:custGeom>
            <a:avLst/>
            <a:gdLst/>
            <a:ahLst/>
            <a:cxnLst/>
            <a:rect r="r" b="b" t="t" l="l"/>
            <a:pathLst>
              <a:path h="7029450" w="2095500">
                <a:moveTo>
                  <a:pt x="0" y="0"/>
                </a:moveTo>
                <a:lnTo>
                  <a:pt x="2095500" y="0"/>
                </a:lnTo>
                <a:lnTo>
                  <a:pt x="2095500" y="7029450"/>
                </a:lnTo>
                <a:lnTo>
                  <a:pt x="0" y="7029450"/>
                </a:lnTo>
                <a:lnTo>
                  <a:pt x="0" y="0"/>
                </a:lnTo>
                <a:close/>
              </a:path>
            </a:pathLst>
          </a:custGeom>
          <a:blipFill>
            <a:blip r:embed="rId37"/>
            <a:stretch>
              <a:fillRect l="0" t="0" r="0" b="0"/>
            </a:stretch>
          </a:blipFill>
        </p:spPr>
      </p:sp>
      <p:sp>
        <p:nvSpPr>
          <p:cNvPr name="Freeform 70" id="70"/>
          <p:cNvSpPr/>
          <p:nvPr/>
        </p:nvSpPr>
        <p:spPr>
          <a:xfrm flipH="false" flipV="false" rot="0">
            <a:off x="12887325" y="5829300"/>
            <a:ext cx="1743075" cy="1200150"/>
          </a:xfrm>
          <a:custGeom>
            <a:avLst/>
            <a:gdLst/>
            <a:ahLst/>
            <a:cxnLst/>
            <a:rect r="r" b="b" t="t" l="l"/>
            <a:pathLst>
              <a:path h="1200150" w="1743075">
                <a:moveTo>
                  <a:pt x="0" y="0"/>
                </a:moveTo>
                <a:lnTo>
                  <a:pt x="1743075" y="0"/>
                </a:lnTo>
                <a:lnTo>
                  <a:pt x="1743075" y="1200150"/>
                </a:lnTo>
                <a:lnTo>
                  <a:pt x="0" y="1200150"/>
                </a:lnTo>
                <a:lnTo>
                  <a:pt x="0" y="0"/>
                </a:lnTo>
                <a:close/>
              </a:path>
            </a:pathLst>
          </a:custGeom>
          <a:blipFill>
            <a:blip r:embed="rId38"/>
            <a:stretch>
              <a:fillRect l="0" t="0" r="0" b="0"/>
            </a:stretch>
          </a:blipFill>
        </p:spPr>
      </p:sp>
      <p:sp>
        <p:nvSpPr>
          <p:cNvPr name="TextBox 71" id="71"/>
          <p:cNvSpPr txBox="true"/>
          <p:nvPr/>
        </p:nvSpPr>
        <p:spPr>
          <a:xfrm rot="0">
            <a:off x="1656189" y="2594372"/>
            <a:ext cx="329930" cy="1904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432"/>
              </a:lnSpc>
            </a:pPr>
            <a:r>
              <a:rPr lang="en-US" b="true" sz="1193" spc="-47">
                <a:solidFill>
                  <a:srgbClr val="0A2350"/>
                </a:solidFill>
                <a:latin typeface="Raleway Bold"/>
                <a:ea typeface="Raleway Bold"/>
                <a:cs typeface="Raleway Bold"/>
                <a:sym typeface="Raleway Bold"/>
              </a:rPr>
              <a:t>zona</a:t>
            </a:r>
          </a:p>
        </p:txBody>
      </p:sp>
      <p:sp>
        <p:nvSpPr>
          <p:cNvPr name="TextBox 72" id="72"/>
          <p:cNvSpPr txBox="true"/>
          <p:nvPr/>
        </p:nvSpPr>
        <p:spPr>
          <a:xfrm rot="0">
            <a:off x="6339509" y="2594372"/>
            <a:ext cx="414093" cy="1952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52"/>
              </a:lnSpc>
            </a:pPr>
            <a:r>
              <a:rPr lang="en-US" sz="1293" spc="-51" b="true">
                <a:solidFill>
                  <a:srgbClr val="09234F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0.414</a:t>
            </a:r>
          </a:p>
        </p:txBody>
      </p:sp>
      <p:sp>
        <p:nvSpPr>
          <p:cNvPr name="TextBox 73" id="73"/>
          <p:cNvSpPr txBox="true"/>
          <p:nvPr/>
        </p:nvSpPr>
        <p:spPr>
          <a:xfrm rot="0">
            <a:off x="1481138" y="3185070"/>
            <a:ext cx="505808" cy="1904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432"/>
              </a:lnSpc>
            </a:pPr>
            <a:r>
              <a:rPr lang="en-US" b="true" sz="1193" spc="-47">
                <a:solidFill>
                  <a:srgbClr val="0A2350"/>
                </a:solidFill>
                <a:latin typeface="Raleway Bold"/>
                <a:ea typeface="Raleway Bold"/>
                <a:cs typeface="Raleway Bold"/>
                <a:sym typeface="Raleway Bold"/>
              </a:rPr>
              <a:t>banos</a:t>
            </a:r>
          </a:p>
        </p:txBody>
      </p:sp>
      <p:sp>
        <p:nvSpPr>
          <p:cNvPr name="TextBox 74" id="74"/>
          <p:cNvSpPr txBox="true"/>
          <p:nvPr/>
        </p:nvSpPr>
        <p:spPr>
          <a:xfrm rot="0">
            <a:off x="3617740" y="3185070"/>
            <a:ext cx="414093" cy="1952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52"/>
              </a:lnSpc>
            </a:pPr>
            <a:r>
              <a:rPr lang="en-US" sz="1293" spc="-51" b="true">
                <a:solidFill>
                  <a:srgbClr val="09234F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0.124</a:t>
            </a:r>
          </a:p>
        </p:txBody>
      </p:sp>
      <p:sp>
        <p:nvSpPr>
          <p:cNvPr name="TextBox 75" id="75"/>
          <p:cNvSpPr txBox="true"/>
          <p:nvPr/>
        </p:nvSpPr>
        <p:spPr>
          <a:xfrm rot="0">
            <a:off x="440387" y="3474392"/>
            <a:ext cx="1558012" cy="1904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432"/>
              </a:lnSpc>
            </a:pPr>
            <a:r>
              <a:rPr lang="en-US" b="true" sz="1193" spc="-47">
                <a:solidFill>
                  <a:srgbClr val="0A2350"/>
                </a:solidFill>
                <a:latin typeface="Raleway Bold"/>
                <a:ea typeface="Raleway Bold"/>
                <a:cs typeface="Raleway Bold"/>
                <a:sym typeface="Raleway Bold"/>
              </a:rPr>
              <a:t>banos_por_habitacion</a:t>
            </a:r>
          </a:p>
        </p:txBody>
      </p:sp>
      <p:sp>
        <p:nvSpPr>
          <p:cNvPr name="TextBox 76" id="76"/>
          <p:cNvSpPr txBox="true"/>
          <p:nvPr/>
        </p:nvSpPr>
        <p:spPr>
          <a:xfrm rot="0">
            <a:off x="2717657" y="3474392"/>
            <a:ext cx="411188" cy="1952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52"/>
              </a:lnSpc>
            </a:pPr>
            <a:r>
              <a:rPr lang="en-US" sz="1293" spc="-51" b="true">
                <a:solidFill>
                  <a:srgbClr val="4F628B"/>
                </a:solidFill>
                <a:latin typeface="HK Grotesk Semi-Bold"/>
                <a:ea typeface="HK Grotesk Semi-Bold"/>
                <a:cs typeface="HK Grotesk Semi-Bold"/>
                <a:sym typeface="HK Grotesk Semi-Bold"/>
              </a:rPr>
              <a:t>0.044</a:t>
            </a:r>
          </a:p>
        </p:txBody>
      </p:sp>
      <p:sp>
        <p:nvSpPr>
          <p:cNvPr name="TextBox 77" id="77"/>
          <p:cNvSpPr txBox="true"/>
          <p:nvPr/>
        </p:nvSpPr>
        <p:spPr>
          <a:xfrm rot="0">
            <a:off x="724208" y="4040981"/>
            <a:ext cx="1271325" cy="1904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432"/>
              </a:lnSpc>
            </a:pPr>
            <a:r>
              <a:rPr lang="en-US" b="true" sz="1193" spc="-47">
                <a:solidFill>
                  <a:srgbClr val="0A2350"/>
                </a:solidFill>
                <a:latin typeface="Raleway Bold"/>
                <a:ea typeface="Raleway Bold"/>
                <a:cs typeface="Raleway Bold"/>
                <a:sym typeface="Raleway Bold"/>
              </a:rPr>
              <a:t>anío_construcción</a:t>
            </a:r>
          </a:p>
        </p:txBody>
      </p:sp>
      <p:sp>
        <p:nvSpPr>
          <p:cNvPr name="TextBox 78" id="78"/>
          <p:cNvSpPr txBox="true"/>
          <p:nvPr/>
        </p:nvSpPr>
        <p:spPr>
          <a:xfrm rot="0">
            <a:off x="2567804" y="4060262"/>
            <a:ext cx="394631" cy="1784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22"/>
              </a:lnSpc>
            </a:pPr>
            <a:r>
              <a:rPr lang="en-US" sz="1293" spc="-38">
                <a:solidFill>
                  <a:srgbClr val="0A2350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0.023</a:t>
            </a:r>
          </a:p>
        </p:txBody>
      </p:sp>
      <p:sp>
        <p:nvSpPr>
          <p:cNvPr name="TextBox 79" id="79"/>
          <p:cNvSpPr txBox="true"/>
          <p:nvPr/>
        </p:nvSpPr>
        <p:spPr>
          <a:xfrm rot="0">
            <a:off x="724208" y="4291839"/>
            <a:ext cx="1292062" cy="1771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312"/>
              </a:lnSpc>
            </a:pPr>
            <a:r>
              <a:rPr lang="en-US" sz="1193" spc="-35">
                <a:solidFill>
                  <a:srgbClr val="0A2350"/>
                </a:solidFill>
                <a:latin typeface="Raleway"/>
                <a:ea typeface="Raleway"/>
                <a:cs typeface="Raleway"/>
                <a:sym typeface="Raleway"/>
              </a:rPr>
              <a:t>vista</a:t>
            </a:r>
          </a:p>
        </p:txBody>
      </p:sp>
      <p:sp>
        <p:nvSpPr>
          <p:cNvPr name="TextBox 80" id="80"/>
          <p:cNvSpPr txBox="true"/>
          <p:nvPr/>
        </p:nvSpPr>
        <p:spPr>
          <a:xfrm rot="0">
            <a:off x="2567690" y="4337529"/>
            <a:ext cx="406005" cy="1784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22"/>
              </a:lnSpc>
            </a:pPr>
            <a:r>
              <a:rPr lang="en-US" sz="1293" spc="-38">
                <a:solidFill>
                  <a:srgbClr val="0A2350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0.020</a:t>
            </a:r>
          </a:p>
        </p:txBody>
      </p:sp>
      <p:sp>
        <p:nvSpPr>
          <p:cNvPr name="TextBox 81" id="81"/>
          <p:cNvSpPr txBox="true"/>
          <p:nvPr/>
        </p:nvSpPr>
        <p:spPr>
          <a:xfrm rot="0">
            <a:off x="1047750" y="4882538"/>
            <a:ext cx="964880" cy="1771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312"/>
              </a:lnSpc>
            </a:pPr>
            <a:r>
              <a:rPr lang="en-US" b="true" sz="1193" spc="-35">
                <a:solidFill>
                  <a:srgbClr val="0A2350"/>
                </a:solidFill>
                <a:latin typeface="Raleway Bold"/>
                <a:ea typeface="Raleway Bold"/>
                <a:cs typeface="Raleway Bold"/>
                <a:sym typeface="Raleway Bold"/>
              </a:rPr>
              <a:t>habitaciones</a:t>
            </a:r>
          </a:p>
        </p:txBody>
      </p:sp>
      <p:sp>
        <p:nvSpPr>
          <p:cNvPr name="TextBox 82" id="82"/>
          <p:cNvSpPr txBox="true"/>
          <p:nvPr/>
        </p:nvSpPr>
        <p:spPr>
          <a:xfrm rot="0">
            <a:off x="2460987" y="4892063"/>
            <a:ext cx="360683" cy="1784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22"/>
              </a:lnSpc>
            </a:pPr>
            <a:r>
              <a:rPr lang="en-US" sz="1293" spc="-38">
                <a:solidFill>
                  <a:srgbClr val="0A2350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0.014</a:t>
            </a:r>
          </a:p>
        </p:txBody>
      </p:sp>
      <p:sp>
        <p:nvSpPr>
          <p:cNvPr name="TextBox 83" id="83"/>
          <p:cNvSpPr txBox="true"/>
          <p:nvPr/>
        </p:nvSpPr>
        <p:spPr>
          <a:xfrm rot="0">
            <a:off x="1324166" y="5183915"/>
            <a:ext cx="686521" cy="1771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312"/>
              </a:lnSpc>
            </a:pPr>
            <a:r>
              <a:rPr lang="en-US" b="true" sz="1193" spc="-35">
                <a:solidFill>
                  <a:srgbClr val="0A2350"/>
                </a:solidFill>
                <a:latin typeface="Raleway Bold"/>
                <a:ea typeface="Raleway Bold"/>
                <a:cs typeface="Raleway Bold"/>
                <a:sym typeface="Raleway Bold"/>
              </a:rPr>
              <a:t>condicion</a:t>
            </a:r>
          </a:p>
        </p:txBody>
      </p:sp>
      <p:sp>
        <p:nvSpPr>
          <p:cNvPr name="TextBox 84" id="84"/>
          <p:cNvSpPr txBox="true"/>
          <p:nvPr/>
        </p:nvSpPr>
        <p:spPr>
          <a:xfrm rot="0">
            <a:off x="440387" y="5473237"/>
            <a:ext cx="1576822" cy="1771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312"/>
              </a:lnSpc>
            </a:pPr>
            <a:r>
              <a:rPr lang="en-US" b="true" sz="1193" spc="-35">
                <a:solidFill>
                  <a:srgbClr val="0A2350"/>
                </a:solidFill>
                <a:latin typeface="Raleway Bold"/>
                <a:ea typeface="Raleway Bold"/>
                <a:cs typeface="Raleway Bold"/>
                <a:sym typeface="Raleway Bold"/>
              </a:rPr>
              <a:t>ubicacion_premium</a:t>
            </a:r>
          </a:p>
        </p:txBody>
      </p:sp>
      <p:sp>
        <p:nvSpPr>
          <p:cNvPr name="TextBox 85" id="85"/>
          <p:cNvSpPr txBox="true"/>
          <p:nvPr/>
        </p:nvSpPr>
        <p:spPr>
          <a:xfrm rot="0">
            <a:off x="866775" y="5762559"/>
            <a:ext cx="1145721" cy="1771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312"/>
              </a:lnSpc>
            </a:pPr>
            <a:r>
              <a:rPr lang="en-US" b="true" sz="1193" spc="-35">
                <a:solidFill>
                  <a:srgbClr val="0A2350"/>
                </a:solidFill>
                <a:latin typeface="Raleway Bold"/>
                <a:ea typeface="Raleway Bold"/>
                <a:cs typeface="Raleway Bold"/>
                <a:sym typeface="Raleway Bold"/>
              </a:rPr>
              <a:t>area_lote_m2</a:t>
            </a:r>
          </a:p>
        </p:txBody>
      </p:sp>
      <p:sp>
        <p:nvSpPr>
          <p:cNvPr name="TextBox 86" id="86"/>
          <p:cNvSpPr txBox="true"/>
          <p:nvPr/>
        </p:nvSpPr>
        <p:spPr>
          <a:xfrm rot="0">
            <a:off x="2351414" y="5772084"/>
            <a:ext cx="602391" cy="1784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22"/>
              </a:lnSpc>
            </a:pPr>
            <a:r>
              <a:rPr lang="en-US" sz="1293" spc="-38">
                <a:solidFill>
                  <a:srgbClr val="0A2350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- 0.0003</a:t>
            </a:r>
          </a:p>
        </p:txBody>
      </p:sp>
      <p:sp>
        <p:nvSpPr>
          <p:cNvPr name="TextBox 87" id="87"/>
          <p:cNvSpPr txBox="true"/>
          <p:nvPr/>
        </p:nvSpPr>
        <p:spPr>
          <a:xfrm rot="0">
            <a:off x="2078171" y="6194011"/>
            <a:ext cx="222062" cy="1784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422"/>
              </a:lnSpc>
            </a:pPr>
            <a:r>
              <a:rPr lang="en-US" sz="1293" spc="-38">
                <a:solidFill>
                  <a:srgbClr val="0A2350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0.0</a:t>
            </a:r>
          </a:p>
        </p:txBody>
      </p:sp>
      <p:sp>
        <p:nvSpPr>
          <p:cNvPr name="TextBox 88" id="88"/>
          <p:cNvSpPr txBox="true"/>
          <p:nvPr/>
        </p:nvSpPr>
        <p:spPr>
          <a:xfrm rot="0">
            <a:off x="3044238" y="6194011"/>
            <a:ext cx="175879" cy="1784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422"/>
              </a:lnSpc>
            </a:pPr>
            <a:r>
              <a:rPr lang="en-US" sz="1293" spc="-38">
                <a:solidFill>
                  <a:srgbClr val="0A2350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0.1</a:t>
            </a:r>
          </a:p>
        </p:txBody>
      </p:sp>
      <p:sp>
        <p:nvSpPr>
          <p:cNvPr name="TextBox 89" id="89"/>
          <p:cNvSpPr txBox="true"/>
          <p:nvPr/>
        </p:nvSpPr>
        <p:spPr>
          <a:xfrm rot="0">
            <a:off x="3991498" y="6194011"/>
            <a:ext cx="210172" cy="1784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422"/>
              </a:lnSpc>
            </a:pPr>
            <a:r>
              <a:rPr lang="en-US" sz="1293" spc="-38">
                <a:solidFill>
                  <a:srgbClr val="0A2350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0.2</a:t>
            </a:r>
          </a:p>
        </p:txBody>
      </p:sp>
      <p:sp>
        <p:nvSpPr>
          <p:cNvPr name="TextBox 90" id="90"/>
          <p:cNvSpPr txBox="true"/>
          <p:nvPr/>
        </p:nvSpPr>
        <p:spPr>
          <a:xfrm rot="0">
            <a:off x="2670650" y="6471278"/>
            <a:ext cx="2968707" cy="1784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22"/>
              </a:lnSpc>
            </a:pPr>
            <a:r>
              <a:rPr lang="en-US" sz="1293" spc="-38">
                <a:solidFill>
                  <a:srgbClr val="0A2350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Pérdida de R² (log) al desordenar la variable</a:t>
            </a:r>
          </a:p>
        </p:txBody>
      </p:sp>
      <p:sp>
        <p:nvSpPr>
          <p:cNvPr name="TextBox 91" id="91"/>
          <p:cNvSpPr txBox="true"/>
          <p:nvPr/>
        </p:nvSpPr>
        <p:spPr>
          <a:xfrm rot="0">
            <a:off x="8403922" y="6688269"/>
            <a:ext cx="3999088" cy="3892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32"/>
              </a:lnSpc>
            </a:pPr>
            <a:r>
              <a:rPr lang="en-US" sz="1393" spc="-41">
                <a:solidFill>
                  <a:srgbClr val="0A2350"/>
                </a:solidFill>
                <a:latin typeface="Raleway"/>
                <a:ea typeface="Raleway"/>
                <a:cs typeface="Raleway"/>
                <a:sym typeface="Raleway"/>
              </a:rPr>
              <a:t>Separación de evaluación y selección de hiperparametros.</a:t>
            </a:r>
          </a:p>
        </p:txBody>
      </p:sp>
      <p:sp>
        <p:nvSpPr>
          <p:cNvPr name="TextBox 92" id="92"/>
          <p:cNvSpPr txBox="true"/>
          <p:nvPr/>
        </p:nvSpPr>
        <p:spPr>
          <a:xfrm rot="0">
            <a:off x="310330" y="333329"/>
            <a:ext cx="7689348" cy="6831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143"/>
              </a:lnSpc>
            </a:pPr>
            <a:r>
              <a:rPr lang="en-US" sz="5143" spc="-205" b="true">
                <a:solidFill>
                  <a:srgbClr val="052B4C"/>
                </a:solidFill>
                <a:latin typeface="TT Chocolates Bold"/>
                <a:ea typeface="TT Chocolates Bold"/>
                <a:cs typeface="TT Chocolates Bold"/>
                <a:sym typeface="TT Chocolates Bold"/>
              </a:rPr>
              <a:t>Fuga, deriva</a:t>
            </a:r>
            <a:r>
              <a:rPr lang="en-US" sz="5143" spc="-205" b="true">
                <a:solidFill>
                  <a:srgbClr val="F65C0C"/>
                </a:solidFill>
                <a:latin typeface="TT Chocolates Bold"/>
                <a:ea typeface="TT Chocolates Bold"/>
                <a:cs typeface="TT Chocolates Bold"/>
                <a:sym typeface="TT Chocolates Bold"/>
              </a:rPr>
              <a:t> y correcciones</a:t>
            </a:r>
          </a:p>
        </p:txBody>
      </p:sp>
      <p:sp>
        <p:nvSpPr>
          <p:cNvPr name="Freeform 93" id="93"/>
          <p:cNvSpPr/>
          <p:nvPr/>
        </p:nvSpPr>
        <p:spPr>
          <a:xfrm flipH="false" flipV="false" rot="0">
            <a:off x="8185309" y="6184486"/>
            <a:ext cx="180975" cy="342900"/>
          </a:xfrm>
          <a:custGeom>
            <a:avLst/>
            <a:gdLst/>
            <a:ahLst/>
            <a:cxnLst/>
            <a:rect r="r" b="b" t="t" l="l"/>
            <a:pathLst>
              <a:path h="342900" w="180975">
                <a:moveTo>
                  <a:pt x="0" y="0"/>
                </a:moveTo>
                <a:lnTo>
                  <a:pt x="180975" y="0"/>
                </a:lnTo>
                <a:lnTo>
                  <a:pt x="180975" y="342900"/>
                </a:lnTo>
                <a:lnTo>
                  <a:pt x="0" y="342900"/>
                </a:lnTo>
                <a:lnTo>
                  <a:pt x="0" y="0"/>
                </a:lnTo>
                <a:close/>
              </a:path>
            </a:pathLst>
          </a:custGeom>
          <a:blipFill>
            <a:blip r:embed="rId30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280578" y="360875"/>
            <a:ext cx="6232197" cy="6611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29"/>
              </a:lnSpc>
            </a:pPr>
            <a:r>
              <a:rPr lang="en-US" sz="5029" spc="-302" b="true">
                <a:solidFill>
                  <a:srgbClr val="081640"/>
                </a:solidFill>
                <a:latin typeface="Gotham Bold"/>
                <a:ea typeface="Gotham Bold"/>
                <a:cs typeface="Gotham Bold"/>
                <a:sym typeface="Gotham Bold"/>
              </a:rPr>
              <a:t>Del modelo simple al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6639017" y="286081"/>
            <a:ext cx="4753335" cy="7543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699"/>
              </a:lnSpc>
            </a:pPr>
            <a:r>
              <a:rPr lang="en-US" sz="5699" spc="-342" b="true">
                <a:solidFill>
                  <a:srgbClr val="F64D0D"/>
                </a:solidFill>
                <a:latin typeface="Gotham Bold"/>
                <a:ea typeface="Gotham Bold"/>
                <a:cs typeface="Gotham Bold"/>
                <a:sym typeface="Gotham Bold"/>
              </a:rPr>
              <a:t>mejor modelo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254342" y="1039266"/>
            <a:ext cx="8855777" cy="2809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19"/>
              </a:lnSpc>
            </a:pPr>
            <a:r>
              <a:rPr lang="en-US" sz="1849" spc="-92">
                <a:solidFill>
                  <a:srgbClr val="19306D"/>
                </a:solidFill>
                <a:latin typeface="Gotham"/>
                <a:ea typeface="Gotham"/>
                <a:cs typeface="Gotham"/>
                <a:sym typeface="Gotham"/>
              </a:rPr>
              <a:t>Comparación de modelos y desempeño del modelo final con XGBoost + Optuna.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171450" y="1371600"/>
            <a:ext cx="1047750" cy="171450"/>
          </a:xfrm>
          <a:custGeom>
            <a:avLst/>
            <a:gdLst/>
            <a:ahLst/>
            <a:cxnLst/>
            <a:rect r="r" b="b" t="t" l="l"/>
            <a:pathLst>
              <a:path h="171450" w="1047750">
                <a:moveTo>
                  <a:pt x="0" y="0"/>
                </a:moveTo>
                <a:lnTo>
                  <a:pt x="1047750" y="0"/>
                </a:lnTo>
                <a:lnTo>
                  <a:pt x="1047750" y="171450"/>
                </a:lnTo>
                <a:lnTo>
                  <a:pt x="0" y="17145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2363450" y="0"/>
            <a:ext cx="2266950" cy="2571750"/>
          </a:xfrm>
          <a:custGeom>
            <a:avLst/>
            <a:gdLst/>
            <a:ahLst/>
            <a:cxnLst/>
            <a:rect r="r" b="b" t="t" l="l"/>
            <a:pathLst>
              <a:path h="2571750" w="2266950">
                <a:moveTo>
                  <a:pt x="0" y="0"/>
                </a:moveTo>
                <a:lnTo>
                  <a:pt x="2266950" y="0"/>
                </a:lnTo>
                <a:lnTo>
                  <a:pt x="2266950" y="2571750"/>
                </a:lnTo>
                <a:lnTo>
                  <a:pt x="0" y="257175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514350" y="1714500"/>
            <a:ext cx="1057275" cy="1028700"/>
          </a:xfrm>
          <a:custGeom>
            <a:avLst/>
            <a:gdLst/>
            <a:ahLst/>
            <a:cxnLst/>
            <a:rect r="r" b="b" t="t" l="l"/>
            <a:pathLst>
              <a:path h="1028700" w="1057275">
                <a:moveTo>
                  <a:pt x="0" y="0"/>
                </a:moveTo>
                <a:lnTo>
                  <a:pt x="1057275" y="0"/>
                </a:lnTo>
                <a:lnTo>
                  <a:pt x="1057275" y="1028700"/>
                </a:lnTo>
                <a:lnTo>
                  <a:pt x="0" y="102870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1793067" y="1927887"/>
            <a:ext cx="2858951" cy="3310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34"/>
              </a:lnSpc>
            </a:pPr>
            <a:r>
              <a:rPr lang="en-US" sz="2534" spc="-126" b="true">
                <a:solidFill>
                  <a:srgbClr val="081640"/>
                </a:solidFill>
                <a:latin typeface="Gotham Bold"/>
                <a:ea typeface="Gotham Bold"/>
                <a:cs typeface="Gotham Bold"/>
                <a:sym typeface="Gotham Bold"/>
              </a:rPr>
              <a:t>Evolución del error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821656" y="2212650"/>
            <a:ext cx="3857625" cy="2666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01"/>
              </a:lnSpc>
            </a:pPr>
            <a:r>
              <a:rPr lang="en-US" sz="1750" spc="-87">
                <a:solidFill>
                  <a:srgbClr val="19306D"/>
                </a:solidFill>
                <a:latin typeface="Gotham"/>
                <a:ea typeface="Gotham"/>
                <a:cs typeface="Gotham"/>
                <a:sym typeface="Gotham"/>
              </a:rPr>
              <a:t>Error porcentual mediano (MedAPE)</a:t>
            </a:r>
          </a:p>
        </p:txBody>
      </p:sp>
      <p:sp>
        <p:nvSpPr>
          <p:cNvPr name="Freeform 10" id="10"/>
          <p:cNvSpPr/>
          <p:nvPr/>
        </p:nvSpPr>
        <p:spPr>
          <a:xfrm flipH="false" flipV="false" rot="0">
            <a:off x="6438900" y="1714500"/>
            <a:ext cx="4191000" cy="2571750"/>
          </a:xfrm>
          <a:custGeom>
            <a:avLst/>
            <a:gdLst/>
            <a:ahLst/>
            <a:cxnLst/>
            <a:rect r="r" b="b" t="t" l="l"/>
            <a:pathLst>
              <a:path h="2571750" w="4191000">
                <a:moveTo>
                  <a:pt x="0" y="0"/>
                </a:moveTo>
                <a:lnTo>
                  <a:pt x="4191000" y="0"/>
                </a:lnTo>
                <a:lnTo>
                  <a:pt x="4191000" y="2571750"/>
                </a:lnTo>
                <a:lnTo>
                  <a:pt x="0" y="257175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6610350" y="2057400"/>
            <a:ext cx="1057275" cy="1200150"/>
          </a:xfrm>
          <a:custGeom>
            <a:avLst/>
            <a:gdLst/>
            <a:ahLst/>
            <a:cxnLst/>
            <a:rect r="r" b="b" t="t" l="l"/>
            <a:pathLst>
              <a:path h="1200150" w="1057275">
                <a:moveTo>
                  <a:pt x="0" y="0"/>
                </a:moveTo>
                <a:lnTo>
                  <a:pt x="1057275" y="0"/>
                </a:lnTo>
                <a:lnTo>
                  <a:pt x="1057275" y="1200150"/>
                </a:lnTo>
                <a:lnTo>
                  <a:pt x="0" y="120015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7783630" y="1992292"/>
            <a:ext cx="2475471" cy="5238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01"/>
              </a:lnSpc>
            </a:pPr>
            <a:r>
              <a:rPr lang="en-US" sz="1750" spc="-87" b="true">
                <a:solidFill>
                  <a:srgbClr val="19306D"/>
                </a:solidFill>
                <a:latin typeface="Gotham Bold"/>
                <a:ea typeface="Gotham Bold"/>
                <a:cs typeface="Gotham Bold"/>
                <a:sym typeface="Gotham Bold"/>
              </a:rPr>
              <a:t>Error porcentual mediano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7864503" y="2545374"/>
            <a:ext cx="2219741" cy="6706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29"/>
              </a:lnSpc>
            </a:pPr>
            <a:r>
              <a:rPr lang="en-US" sz="5029" spc="-250" b="true">
                <a:solidFill>
                  <a:srgbClr val="F64D0D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10,86 %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7865709" y="3291036"/>
            <a:ext cx="2099136" cy="5143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29"/>
              </a:lnSpc>
            </a:pPr>
            <a:r>
              <a:rPr lang="en-US" sz="1690" spc="-84">
                <a:solidFill>
                  <a:srgbClr val="19306D"/>
                </a:solidFill>
                <a:latin typeface="Gotham"/>
                <a:ea typeface="Gotham"/>
                <a:cs typeface="Gotham"/>
                <a:sym typeface="Gotham"/>
              </a:rPr>
              <a:t>Menor error entre todos los modelos.</a:t>
            </a:r>
          </a:p>
        </p:txBody>
      </p:sp>
      <p:sp>
        <p:nvSpPr>
          <p:cNvPr name="Freeform 15" id="15"/>
          <p:cNvSpPr/>
          <p:nvPr/>
        </p:nvSpPr>
        <p:spPr>
          <a:xfrm flipH="false" flipV="false" rot="0">
            <a:off x="10620375" y="1714500"/>
            <a:ext cx="3838575" cy="2571750"/>
          </a:xfrm>
          <a:custGeom>
            <a:avLst/>
            <a:gdLst/>
            <a:ahLst/>
            <a:cxnLst/>
            <a:rect r="r" b="b" t="t" l="l"/>
            <a:pathLst>
              <a:path h="2571750" w="3838575">
                <a:moveTo>
                  <a:pt x="0" y="0"/>
                </a:moveTo>
                <a:lnTo>
                  <a:pt x="3838575" y="0"/>
                </a:lnTo>
                <a:lnTo>
                  <a:pt x="3838575" y="2571750"/>
                </a:lnTo>
                <a:lnTo>
                  <a:pt x="0" y="2571750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10791825" y="2057400"/>
            <a:ext cx="1228725" cy="1200150"/>
          </a:xfrm>
          <a:custGeom>
            <a:avLst/>
            <a:gdLst/>
            <a:ahLst/>
            <a:cxnLst/>
            <a:rect r="r" b="b" t="t" l="l"/>
            <a:pathLst>
              <a:path h="1200150" w="1228725">
                <a:moveTo>
                  <a:pt x="0" y="0"/>
                </a:moveTo>
                <a:lnTo>
                  <a:pt x="1228725" y="0"/>
                </a:lnTo>
                <a:lnTo>
                  <a:pt x="1228725" y="1200150"/>
                </a:lnTo>
                <a:lnTo>
                  <a:pt x="0" y="1200150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TextBox 17" id="17"/>
          <p:cNvSpPr txBox="true"/>
          <p:nvPr/>
        </p:nvSpPr>
        <p:spPr>
          <a:xfrm rot="0">
            <a:off x="12092357" y="2232526"/>
            <a:ext cx="1629937" cy="2382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80"/>
              </a:lnSpc>
            </a:pPr>
            <a:r>
              <a:rPr lang="en-US" sz="1880" spc="-93" b="true">
                <a:solidFill>
                  <a:srgbClr val="19306D"/>
                </a:solidFill>
                <a:latin typeface="Gotham Bold"/>
                <a:ea typeface="Gotham Bold"/>
                <a:cs typeface="Gotham Bold"/>
                <a:sym typeface="Gotham Bold"/>
              </a:rPr>
              <a:t>R² logarítmico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2093418" y="2545374"/>
            <a:ext cx="1523808" cy="6706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29"/>
              </a:lnSpc>
            </a:pPr>
            <a:r>
              <a:rPr lang="en-US" sz="5029" spc="-250" b="true">
                <a:solidFill>
                  <a:srgbClr val="08164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0,842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1275252" y="3429043"/>
            <a:ext cx="2751891" cy="5143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29"/>
              </a:lnSpc>
            </a:pPr>
            <a:r>
              <a:rPr lang="en-US" sz="1690" spc="-84">
                <a:solidFill>
                  <a:srgbClr val="19306D"/>
                </a:solidFill>
                <a:latin typeface="Gotham"/>
                <a:ea typeface="Gotham"/>
                <a:cs typeface="Gotham"/>
                <a:sym typeface="Gotham"/>
              </a:rPr>
              <a:t>Buen ajuste del modelo en escala logarítmica.</a:t>
            </a:r>
          </a:p>
        </p:txBody>
      </p:sp>
      <p:sp>
        <p:nvSpPr>
          <p:cNvPr name="Freeform 20" id="20"/>
          <p:cNvSpPr/>
          <p:nvPr/>
        </p:nvSpPr>
        <p:spPr>
          <a:xfrm flipH="false" flipV="false" rot="0">
            <a:off x="6438900" y="4286250"/>
            <a:ext cx="4191000" cy="2400300"/>
          </a:xfrm>
          <a:custGeom>
            <a:avLst/>
            <a:gdLst/>
            <a:ahLst/>
            <a:cxnLst/>
            <a:rect r="r" b="b" t="t" l="l"/>
            <a:pathLst>
              <a:path h="2400300" w="4191000">
                <a:moveTo>
                  <a:pt x="0" y="0"/>
                </a:moveTo>
                <a:lnTo>
                  <a:pt x="4191000" y="0"/>
                </a:lnTo>
                <a:lnTo>
                  <a:pt x="4191000" y="2400300"/>
                </a:lnTo>
                <a:lnTo>
                  <a:pt x="0" y="2400300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Freeform 21" id="21"/>
          <p:cNvSpPr/>
          <p:nvPr/>
        </p:nvSpPr>
        <p:spPr>
          <a:xfrm flipH="false" flipV="false" rot="0">
            <a:off x="6610350" y="4457700"/>
            <a:ext cx="1228725" cy="1200150"/>
          </a:xfrm>
          <a:custGeom>
            <a:avLst/>
            <a:gdLst/>
            <a:ahLst/>
            <a:cxnLst/>
            <a:rect r="r" b="b" t="t" l="l"/>
            <a:pathLst>
              <a:path h="1200150" w="1228725">
                <a:moveTo>
                  <a:pt x="0" y="0"/>
                </a:moveTo>
                <a:lnTo>
                  <a:pt x="1228725" y="0"/>
                </a:lnTo>
                <a:lnTo>
                  <a:pt x="1228725" y="1200150"/>
                </a:lnTo>
                <a:lnTo>
                  <a:pt x="0" y="1200150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  <p:sp>
        <p:nvSpPr>
          <p:cNvPr name="TextBox 22" id="22"/>
          <p:cNvSpPr txBox="true"/>
          <p:nvPr/>
        </p:nvSpPr>
        <p:spPr>
          <a:xfrm rot="0">
            <a:off x="7881304" y="4655597"/>
            <a:ext cx="539611" cy="2382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80"/>
              </a:lnSpc>
            </a:pPr>
            <a:r>
              <a:rPr lang="en-US" b="true" sz="1880" spc="-93">
                <a:solidFill>
                  <a:srgbClr val="081640"/>
                </a:solidFill>
                <a:latin typeface="Gotham Bold"/>
                <a:ea typeface="Gotham Bold"/>
                <a:cs typeface="Gotham Bold"/>
                <a:sym typeface="Gotham Bold"/>
              </a:rPr>
              <a:t>MAE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7861695" y="4985562"/>
            <a:ext cx="2500476" cy="5350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00"/>
              </a:lnSpc>
            </a:pPr>
            <a:r>
              <a:rPr lang="en-US" sz="4000" spc="-199" b="true">
                <a:solidFill>
                  <a:srgbClr val="08164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US$ 84.518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7866957" y="5545336"/>
            <a:ext cx="1974310" cy="5333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47"/>
              </a:lnSpc>
            </a:pPr>
            <a:r>
              <a:rPr lang="en-US" sz="1789" spc="-89">
                <a:solidFill>
                  <a:srgbClr val="19306D"/>
                </a:solidFill>
                <a:latin typeface="Gotham"/>
                <a:ea typeface="Gotham"/>
                <a:cs typeface="Gotham"/>
                <a:sym typeface="Gotham"/>
              </a:rPr>
              <a:t>Error absoluto medio en dólares.</a:t>
            </a:r>
          </a:p>
        </p:txBody>
      </p:sp>
      <p:sp>
        <p:nvSpPr>
          <p:cNvPr name="Freeform 25" id="25"/>
          <p:cNvSpPr/>
          <p:nvPr/>
        </p:nvSpPr>
        <p:spPr>
          <a:xfrm flipH="false" flipV="false" rot="0">
            <a:off x="10620375" y="4286250"/>
            <a:ext cx="3838575" cy="2400300"/>
          </a:xfrm>
          <a:custGeom>
            <a:avLst/>
            <a:gdLst/>
            <a:ahLst/>
            <a:cxnLst/>
            <a:rect r="r" b="b" t="t" l="l"/>
            <a:pathLst>
              <a:path h="2400300" w="3838575">
                <a:moveTo>
                  <a:pt x="0" y="0"/>
                </a:moveTo>
                <a:lnTo>
                  <a:pt x="3838575" y="0"/>
                </a:lnTo>
                <a:lnTo>
                  <a:pt x="3838575" y="2400300"/>
                </a:lnTo>
                <a:lnTo>
                  <a:pt x="0" y="2400300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0" t="0" r="0" b="0"/>
            </a:stretch>
          </a:blipFill>
        </p:spPr>
      </p:sp>
      <p:sp>
        <p:nvSpPr>
          <p:cNvPr name="Freeform 26" id="26"/>
          <p:cNvSpPr/>
          <p:nvPr/>
        </p:nvSpPr>
        <p:spPr>
          <a:xfrm flipH="false" flipV="false" rot="0">
            <a:off x="10791825" y="4457700"/>
            <a:ext cx="1228725" cy="1028700"/>
          </a:xfrm>
          <a:custGeom>
            <a:avLst/>
            <a:gdLst/>
            <a:ahLst/>
            <a:cxnLst/>
            <a:rect r="r" b="b" t="t" l="l"/>
            <a:pathLst>
              <a:path h="1028700" w="1228725">
                <a:moveTo>
                  <a:pt x="0" y="0"/>
                </a:moveTo>
                <a:lnTo>
                  <a:pt x="1228725" y="0"/>
                </a:lnTo>
                <a:lnTo>
                  <a:pt x="1228725" y="1028700"/>
                </a:lnTo>
                <a:lnTo>
                  <a:pt x="0" y="1028700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 l="0" t="0" r="0" b="0"/>
            </a:stretch>
          </a:blipFill>
        </p:spPr>
      </p:sp>
      <p:sp>
        <p:nvSpPr>
          <p:cNvPr name="TextBox 27" id="27"/>
          <p:cNvSpPr txBox="true"/>
          <p:nvPr/>
        </p:nvSpPr>
        <p:spPr>
          <a:xfrm rot="0">
            <a:off x="12096750" y="5146999"/>
            <a:ext cx="1760548" cy="6269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06"/>
              </a:lnSpc>
            </a:pPr>
            <a:r>
              <a:rPr lang="en-US" sz="4806" spc="-239" b="true">
                <a:solidFill>
                  <a:srgbClr val="F64D0D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75,9 %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11047174" y="5935841"/>
            <a:ext cx="3208046" cy="5143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29"/>
              </a:lnSpc>
            </a:pPr>
            <a:r>
              <a:rPr lang="en-US" sz="1690" spc="-84">
                <a:solidFill>
                  <a:srgbClr val="19306D"/>
                </a:solidFill>
                <a:latin typeface="Gotham"/>
                <a:ea typeface="Gotham"/>
                <a:cs typeface="Gotham"/>
                <a:sym typeface="Gotham"/>
              </a:rPr>
              <a:t>Proporción de predicciones con error menor al 20 %.</a:t>
            </a:r>
          </a:p>
        </p:txBody>
      </p:sp>
      <p:sp>
        <p:nvSpPr>
          <p:cNvPr name="Freeform 29" id="29"/>
          <p:cNvSpPr/>
          <p:nvPr/>
        </p:nvSpPr>
        <p:spPr>
          <a:xfrm flipH="false" flipV="false" rot="0">
            <a:off x="171450" y="7029450"/>
            <a:ext cx="14287500" cy="1028700"/>
          </a:xfrm>
          <a:custGeom>
            <a:avLst/>
            <a:gdLst/>
            <a:ahLst/>
            <a:cxnLst/>
            <a:rect r="r" b="b" t="t" l="l"/>
            <a:pathLst>
              <a:path h="1028700" w="14287500">
                <a:moveTo>
                  <a:pt x="0" y="0"/>
                </a:moveTo>
                <a:lnTo>
                  <a:pt x="14287500" y="0"/>
                </a:lnTo>
                <a:lnTo>
                  <a:pt x="14287500" y="1028700"/>
                </a:lnTo>
                <a:lnTo>
                  <a:pt x="0" y="1028700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 l="0" t="0" r="0" b="0"/>
            </a:stretch>
          </a:blipFill>
        </p:spPr>
      </p:sp>
      <p:sp>
        <p:nvSpPr>
          <p:cNvPr name="Freeform 30" id="30"/>
          <p:cNvSpPr/>
          <p:nvPr/>
        </p:nvSpPr>
        <p:spPr>
          <a:xfrm flipH="false" flipV="false" rot="0">
            <a:off x="514350" y="7200900"/>
            <a:ext cx="704850" cy="685800"/>
          </a:xfrm>
          <a:custGeom>
            <a:avLst/>
            <a:gdLst/>
            <a:ahLst/>
            <a:cxnLst/>
            <a:rect r="r" b="b" t="t" l="l"/>
            <a:pathLst>
              <a:path h="685800" w="704850">
                <a:moveTo>
                  <a:pt x="0" y="0"/>
                </a:moveTo>
                <a:lnTo>
                  <a:pt x="704850" y="0"/>
                </a:lnTo>
                <a:lnTo>
                  <a:pt x="704850" y="685800"/>
                </a:lnTo>
                <a:lnTo>
                  <a:pt x="0" y="685800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>
              <a:fillRect l="0" t="0" r="0" b="0"/>
            </a:stretch>
          </a:blipFill>
        </p:spPr>
      </p:sp>
      <p:sp>
        <p:nvSpPr>
          <p:cNvPr name="Freeform 31" id="31"/>
          <p:cNvSpPr/>
          <p:nvPr/>
        </p:nvSpPr>
        <p:spPr>
          <a:xfrm flipH="false" flipV="false" rot="0">
            <a:off x="1390650" y="7200900"/>
            <a:ext cx="180975" cy="685800"/>
          </a:xfrm>
          <a:custGeom>
            <a:avLst/>
            <a:gdLst/>
            <a:ahLst/>
            <a:cxnLst/>
            <a:rect r="r" b="b" t="t" l="l"/>
            <a:pathLst>
              <a:path h="685800" w="180975">
                <a:moveTo>
                  <a:pt x="0" y="0"/>
                </a:moveTo>
                <a:lnTo>
                  <a:pt x="180975" y="0"/>
                </a:lnTo>
                <a:lnTo>
                  <a:pt x="180975" y="685800"/>
                </a:lnTo>
                <a:lnTo>
                  <a:pt x="0" y="685800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>
              <a:fillRect l="0" t="0" r="0" b="0"/>
            </a:stretch>
          </a:blipFill>
        </p:spPr>
      </p:sp>
      <p:sp>
        <p:nvSpPr>
          <p:cNvPr name="TextBox 32" id="32"/>
          <p:cNvSpPr txBox="true"/>
          <p:nvPr/>
        </p:nvSpPr>
        <p:spPr>
          <a:xfrm rot="0">
            <a:off x="1866068" y="7377514"/>
            <a:ext cx="1988181" cy="3830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93"/>
              </a:lnSpc>
            </a:pPr>
            <a:r>
              <a:rPr lang="en-US" sz="2893" spc="-173" b="true">
                <a:solidFill>
                  <a:srgbClr val="F64D0D"/>
                </a:solidFill>
                <a:latin typeface="Gotham Bold"/>
                <a:ea typeface="Gotham Bold"/>
                <a:cs typeface="Gotham Bold"/>
                <a:sym typeface="Gotham Bold"/>
              </a:rPr>
              <a:t>Conclusión:</a:t>
            </a:r>
          </a:p>
        </p:txBody>
      </p:sp>
      <p:sp>
        <p:nvSpPr>
          <p:cNvPr name="Freeform 33" id="33"/>
          <p:cNvSpPr/>
          <p:nvPr/>
        </p:nvSpPr>
        <p:spPr>
          <a:xfrm flipH="false" flipV="false" rot="0">
            <a:off x="3829050" y="7200900"/>
            <a:ext cx="180975" cy="685800"/>
          </a:xfrm>
          <a:custGeom>
            <a:avLst/>
            <a:gdLst/>
            <a:ahLst/>
            <a:cxnLst/>
            <a:rect r="r" b="b" t="t" l="l"/>
            <a:pathLst>
              <a:path h="685800" w="180975">
                <a:moveTo>
                  <a:pt x="0" y="0"/>
                </a:moveTo>
                <a:lnTo>
                  <a:pt x="180975" y="0"/>
                </a:lnTo>
                <a:lnTo>
                  <a:pt x="180975" y="685800"/>
                </a:lnTo>
                <a:lnTo>
                  <a:pt x="0" y="685800"/>
                </a:lnTo>
                <a:lnTo>
                  <a:pt x="0" y="0"/>
                </a:lnTo>
                <a:close/>
              </a:path>
            </a:pathLst>
          </a:custGeom>
          <a:blipFill>
            <a:blip r:embed="rId16"/>
            <a:stretch>
              <a:fillRect l="0" t="0" r="0" b="0"/>
            </a:stretch>
          </a:blipFill>
        </p:spPr>
      </p:sp>
      <p:sp>
        <p:nvSpPr>
          <p:cNvPr name="TextBox 34" id="34"/>
          <p:cNvSpPr txBox="true"/>
          <p:nvPr/>
        </p:nvSpPr>
        <p:spPr>
          <a:xfrm rot="0">
            <a:off x="4264819" y="7285829"/>
            <a:ext cx="9762324" cy="600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1"/>
              </a:lnSpc>
            </a:pPr>
            <a:r>
              <a:rPr lang="en-US" sz="1950" spc="-97">
                <a:solidFill>
                  <a:srgbClr val="F1F1F1"/>
                </a:solidFill>
                <a:latin typeface="Gotham"/>
                <a:ea typeface="Gotham"/>
                <a:cs typeface="Gotham"/>
                <a:sym typeface="Gotham"/>
              </a:rPr>
              <a:t>XGBoost + Optuna alcanzó el menor error porcentual mediano </a:t>
            </a:r>
            <a:r>
              <a:rPr lang="en-US" sz="1950" spc="-97" b="true">
                <a:solidFill>
                  <a:srgbClr val="F64D0D"/>
                </a:solidFill>
                <a:latin typeface="Gotham Bold"/>
                <a:ea typeface="Gotham Bold"/>
                <a:cs typeface="Gotham Bold"/>
                <a:sym typeface="Gotham Bold"/>
              </a:rPr>
              <a:t>(10,86 %)</a:t>
            </a:r>
            <a:r>
              <a:rPr lang="en-US" sz="1950" spc="-97">
                <a:solidFill>
                  <a:srgbClr val="F1F1F1"/>
                </a:solidFill>
                <a:latin typeface="Gotham"/>
                <a:ea typeface="Gotham"/>
                <a:cs typeface="Gotham"/>
                <a:sym typeface="Gotham"/>
              </a:rPr>
              <a:t> y un buen ajuste del modelo, mejorando el desempeño frente a otros enfoques.</a:t>
            </a:r>
          </a:p>
        </p:txBody>
      </p:sp>
      <p:sp>
        <p:nvSpPr>
          <p:cNvPr name="Freeform 35" id="35"/>
          <p:cNvSpPr/>
          <p:nvPr/>
        </p:nvSpPr>
        <p:spPr>
          <a:xfrm flipH="false" flipV="false" rot="0">
            <a:off x="254342" y="2914650"/>
            <a:ext cx="6112372" cy="3640627"/>
          </a:xfrm>
          <a:custGeom>
            <a:avLst/>
            <a:gdLst/>
            <a:ahLst/>
            <a:cxnLst/>
            <a:rect r="r" b="b" t="t" l="l"/>
            <a:pathLst>
              <a:path h="3640627" w="6112372">
                <a:moveTo>
                  <a:pt x="0" y="0"/>
                </a:moveTo>
                <a:lnTo>
                  <a:pt x="6112373" y="0"/>
                </a:lnTo>
                <a:lnTo>
                  <a:pt x="6112373" y="3640627"/>
                </a:lnTo>
                <a:lnTo>
                  <a:pt x="0" y="3640627"/>
                </a:lnTo>
                <a:lnTo>
                  <a:pt x="0" y="0"/>
                </a:lnTo>
                <a:close/>
              </a:path>
            </a:pathLst>
          </a:custGeom>
          <a:blipFill>
            <a:blip r:embed="rId17"/>
            <a:stretch>
              <a:fillRect l="-7361" t="-58571" r="-104837" b="-41829"/>
            </a:stretch>
          </a:blipFill>
        </p:spPr>
      </p:sp>
      <p:sp>
        <p:nvSpPr>
          <p:cNvPr name="TextBox 36" id="36"/>
          <p:cNvSpPr txBox="true"/>
          <p:nvPr/>
        </p:nvSpPr>
        <p:spPr>
          <a:xfrm rot="0">
            <a:off x="11984742" y="4370040"/>
            <a:ext cx="1973166" cy="5238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01"/>
              </a:lnSpc>
            </a:pPr>
            <a:r>
              <a:rPr lang="en-US" sz="1750" spc="-87" b="true">
                <a:solidFill>
                  <a:srgbClr val="19306D"/>
                </a:solidFill>
                <a:latin typeface="Gotham Bold"/>
                <a:ea typeface="Gotham Bold"/>
                <a:cs typeface="Gotham Bold"/>
                <a:sym typeface="Gotham Bold"/>
              </a:rPr>
              <a:t>Predicciones dentro de ±20 %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301075" y="2161385"/>
            <a:ext cx="708393" cy="174912"/>
          </a:xfrm>
          <a:custGeom>
            <a:avLst/>
            <a:gdLst/>
            <a:ahLst/>
            <a:cxnLst/>
            <a:rect r="r" b="b" t="t" l="l"/>
            <a:pathLst>
              <a:path h="174912" w="708393">
                <a:moveTo>
                  <a:pt x="0" y="0"/>
                </a:moveTo>
                <a:lnTo>
                  <a:pt x="708393" y="0"/>
                </a:lnTo>
                <a:lnTo>
                  <a:pt x="708393" y="174912"/>
                </a:lnTo>
                <a:lnTo>
                  <a:pt x="0" y="17491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241250" y="2374397"/>
            <a:ext cx="8995026" cy="4643908"/>
          </a:xfrm>
          <a:custGeom>
            <a:avLst/>
            <a:gdLst/>
            <a:ahLst/>
            <a:cxnLst/>
            <a:rect r="r" b="b" t="t" l="l"/>
            <a:pathLst>
              <a:path h="4643908" w="8995026">
                <a:moveTo>
                  <a:pt x="0" y="0"/>
                </a:moveTo>
                <a:lnTo>
                  <a:pt x="8995026" y="0"/>
                </a:lnTo>
                <a:lnTo>
                  <a:pt x="8995026" y="4643908"/>
                </a:lnTo>
                <a:lnTo>
                  <a:pt x="0" y="464390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-3736" r="0" b="-3736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618792" y="2866155"/>
            <a:ext cx="3730948" cy="1998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70"/>
              </a:lnSpc>
            </a:pPr>
            <a:r>
              <a:rPr lang="en-US" sz="1391" spc="-41">
                <a:solidFill>
                  <a:srgbClr val="052154"/>
                </a:solidFill>
                <a:latin typeface="DM Sans"/>
                <a:ea typeface="DM Sans"/>
                <a:cs typeface="DM Sans"/>
                <a:sym typeface="DM Sans"/>
              </a:rPr>
              <a:t>(caída del R² log al desordenar cada variable)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301075" y="3264538"/>
            <a:ext cx="1604905" cy="26949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203"/>
              </a:lnSpc>
            </a:pPr>
            <a:r>
              <a:rPr lang="en-US" sz="1224" spc="-36">
                <a:solidFill>
                  <a:srgbClr val="052154"/>
                </a:solidFill>
                <a:latin typeface="DM Sans"/>
                <a:ea typeface="DM Sans"/>
                <a:cs typeface="DM Sans"/>
                <a:sym typeface="DM Sans"/>
              </a:rPr>
              <a:t>area_construida_m2</a:t>
            </a:r>
          </a:p>
          <a:p>
            <a:pPr algn="r">
              <a:lnSpc>
                <a:spcPts val="2203"/>
              </a:lnSpc>
            </a:pPr>
            <a:r>
              <a:rPr lang="en-US" sz="1224" spc="-36">
                <a:solidFill>
                  <a:srgbClr val="052154"/>
                </a:solidFill>
                <a:latin typeface="DM Sans"/>
                <a:ea typeface="DM Sans"/>
                <a:cs typeface="DM Sans"/>
                <a:sym typeface="DM Sans"/>
              </a:rPr>
              <a:t>zona</a:t>
            </a:r>
          </a:p>
          <a:p>
            <a:pPr algn="r">
              <a:lnSpc>
                <a:spcPts val="2203"/>
              </a:lnSpc>
            </a:pPr>
            <a:r>
              <a:rPr lang="en-US" sz="1224" spc="-36">
                <a:solidFill>
                  <a:srgbClr val="052154"/>
                </a:solidFill>
                <a:latin typeface="DM Sans"/>
                <a:ea typeface="DM Sans"/>
                <a:cs typeface="DM Sans"/>
                <a:sym typeface="DM Sans"/>
              </a:rPr>
              <a:t>codigo postal</a:t>
            </a:r>
          </a:p>
          <a:p>
            <a:pPr algn="r">
              <a:lnSpc>
                <a:spcPts val="2203"/>
              </a:lnSpc>
            </a:pPr>
            <a:r>
              <a:rPr lang="en-US" sz="1224" spc="-36">
                <a:solidFill>
                  <a:srgbClr val="052154"/>
                </a:solidFill>
                <a:latin typeface="DM Sans"/>
                <a:ea typeface="DM Sans"/>
                <a:cs typeface="DM Sans"/>
                <a:sym typeface="DM Sans"/>
              </a:rPr>
              <a:t>area_lote_m2</a:t>
            </a:r>
          </a:p>
          <a:p>
            <a:pPr algn="r">
              <a:lnSpc>
                <a:spcPts val="2203"/>
              </a:lnSpc>
            </a:pPr>
            <a:r>
              <a:rPr lang="en-US" sz="1224" spc="-36">
                <a:solidFill>
                  <a:srgbClr val="052154"/>
                </a:solidFill>
                <a:latin typeface="DM Sans"/>
                <a:ea typeface="DM Sans"/>
                <a:cs typeface="DM Sans"/>
                <a:sym typeface="DM Sans"/>
              </a:rPr>
              <a:t>vista</a:t>
            </a:r>
          </a:p>
          <a:p>
            <a:pPr algn="r">
              <a:lnSpc>
                <a:spcPts val="2203"/>
              </a:lnSpc>
            </a:pPr>
            <a:r>
              <a:rPr lang="en-US" sz="1224" spc="-36">
                <a:solidFill>
                  <a:srgbClr val="052154"/>
                </a:solidFill>
                <a:latin typeface="DM Sans"/>
                <a:ea typeface="DM Sans"/>
                <a:cs typeface="DM Sans"/>
                <a:sym typeface="DM Sans"/>
              </a:rPr>
              <a:t>anio_construccion</a:t>
            </a:r>
          </a:p>
          <a:p>
            <a:pPr algn="r">
              <a:lnSpc>
                <a:spcPts val="2203"/>
              </a:lnSpc>
            </a:pPr>
            <a:r>
              <a:rPr lang="en-US" sz="1224" spc="-36">
                <a:solidFill>
                  <a:srgbClr val="052154"/>
                </a:solidFill>
                <a:latin typeface="DM Sans"/>
                <a:ea typeface="DM Sans"/>
                <a:cs typeface="DM Sans"/>
                <a:sym typeface="DM Sans"/>
              </a:rPr>
              <a:t>banos</a:t>
            </a:r>
          </a:p>
          <a:p>
            <a:pPr algn="r">
              <a:lnSpc>
                <a:spcPts val="2203"/>
              </a:lnSpc>
            </a:pPr>
            <a:r>
              <a:rPr lang="en-US" sz="1224" spc="-36">
                <a:solidFill>
                  <a:srgbClr val="052154"/>
                </a:solidFill>
                <a:latin typeface="DM Sans"/>
                <a:ea typeface="DM Sans"/>
                <a:cs typeface="DM Sans"/>
                <a:sym typeface="DM Sans"/>
              </a:rPr>
              <a:t>condicion</a:t>
            </a:r>
          </a:p>
          <a:p>
            <a:pPr algn="r">
              <a:lnSpc>
                <a:spcPts val="2203"/>
              </a:lnSpc>
            </a:pPr>
            <a:r>
              <a:rPr lang="en-US" sz="1224" spc="-36">
                <a:solidFill>
                  <a:srgbClr val="052154"/>
                </a:solidFill>
                <a:latin typeface="DM Sans"/>
                <a:ea typeface="DM Sans"/>
                <a:cs typeface="DM Sans"/>
                <a:sym typeface="DM Sans"/>
              </a:rPr>
              <a:t>habitaciones</a:t>
            </a:r>
          </a:p>
          <a:p>
            <a:pPr algn="r">
              <a:lnSpc>
                <a:spcPts val="2203"/>
              </a:lnSpc>
            </a:pPr>
            <a:r>
              <a:rPr lang="en-US" sz="1224" spc="-36">
                <a:solidFill>
                  <a:srgbClr val="052154"/>
                </a:solidFill>
                <a:latin typeface="DM Sans"/>
                <a:ea typeface="DM Sans"/>
                <a:cs typeface="DM Sans"/>
                <a:sym typeface="DM Sans"/>
              </a:rPr>
              <a:t>pisos</a:t>
            </a:r>
          </a:p>
        </p:txBody>
      </p:sp>
      <p:sp>
        <p:nvSpPr>
          <p:cNvPr name="Freeform 6" id="6"/>
          <p:cNvSpPr/>
          <p:nvPr/>
        </p:nvSpPr>
        <p:spPr>
          <a:xfrm flipH="false" flipV="false" rot="0">
            <a:off x="1882139" y="3065299"/>
            <a:ext cx="3128045" cy="3095939"/>
          </a:xfrm>
          <a:custGeom>
            <a:avLst/>
            <a:gdLst/>
            <a:ahLst/>
            <a:cxnLst/>
            <a:rect r="r" b="b" t="t" l="l"/>
            <a:pathLst>
              <a:path h="3095939" w="3128045">
                <a:moveTo>
                  <a:pt x="0" y="0"/>
                </a:moveTo>
                <a:lnTo>
                  <a:pt x="3128046" y="0"/>
                </a:lnTo>
                <a:lnTo>
                  <a:pt x="3128046" y="3095938"/>
                </a:lnTo>
                <a:lnTo>
                  <a:pt x="0" y="309593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-2753" r="0" b="-2753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5185503" y="2549309"/>
            <a:ext cx="193773" cy="4119173"/>
          </a:xfrm>
          <a:custGeom>
            <a:avLst/>
            <a:gdLst/>
            <a:ahLst/>
            <a:cxnLst/>
            <a:rect r="r" b="b" t="t" l="l"/>
            <a:pathLst>
              <a:path h="4119173" w="193773">
                <a:moveTo>
                  <a:pt x="0" y="0"/>
                </a:moveTo>
                <a:lnTo>
                  <a:pt x="193773" y="0"/>
                </a:lnTo>
                <a:lnTo>
                  <a:pt x="193773" y="4119173"/>
                </a:lnTo>
                <a:lnTo>
                  <a:pt x="0" y="4119173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-2753" r="0" b="-2753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5394806" y="2866155"/>
            <a:ext cx="2981310" cy="1998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70"/>
              </a:lnSpc>
            </a:pPr>
            <a:r>
              <a:rPr lang="en-US" sz="1391" spc="-41">
                <a:solidFill>
                  <a:srgbClr val="052154"/>
                </a:solidFill>
                <a:latin typeface="DM Sans"/>
                <a:ea typeface="DM Sans"/>
                <a:cs typeface="DM Sans"/>
                <a:sym typeface="DM Sans"/>
              </a:rPr>
              <a:t>(proporción de la importancia total)</a:t>
            </a:r>
          </a:p>
        </p:txBody>
      </p:sp>
      <p:sp>
        <p:nvSpPr>
          <p:cNvPr name="Freeform 9" id="9"/>
          <p:cNvSpPr/>
          <p:nvPr/>
        </p:nvSpPr>
        <p:spPr>
          <a:xfrm flipH="false" flipV="false" rot="0">
            <a:off x="5370048" y="3065299"/>
            <a:ext cx="3497136" cy="3095939"/>
          </a:xfrm>
          <a:custGeom>
            <a:avLst/>
            <a:gdLst/>
            <a:ahLst/>
            <a:cxnLst/>
            <a:rect r="r" b="b" t="t" l="l"/>
            <a:pathLst>
              <a:path h="3095939" w="3497136">
                <a:moveTo>
                  <a:pt x="0" y="0"/>
                </a:moveTo>
                <a:lnTo>
                  <a:pt x="3497137" y="0"/>
                </a:lnTo>
                <a:lnTo>
                  <a:pt x="3497137" y="3095938"/>
                </a:lnTo>
                <a:lnTo>
                  <a:pt x="0" y="3095938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-2753" r="0" b="-2753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55649" y="6931088"/>
            <a:ext cx="9241483" cy="1347886"/>
          </a:xfrm>
          <a:custGeom>
            <a:avLst/>
            <a:gdLst/>
            <a:ahLst/>
            <a:cxnLst/>
            <a:rect r="r" b="b" t="t" l="l"/>
            <a:pathLst>
              <a:path h="1347886" w="9241483">
                <a:moveTo>
                  <a:pt x="0" y="0"/>
                </a:moveTo>
                <a:lnTo>
                  <a:pt x="9241483" y="0"/>
                </a:lnTo>
                <a:lnTo>
                  <a:pt x="9241483" y="1347885"/>
                </a:lnTo>
                <a:lnTo>
                  <a:pt x="0" y="1347885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-34" r="-1214" b="-34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216604" y="7342663"/>
            <a:ext cx="708393" cy="524735"/>
          </a:xfrm>
          <a:custGeom>
            <a:avLst/>
            <a:gdLst/>
            <a:ahLst/>
            <a:cxnLst/>
            <a:rect r="r" b="b" t="t" l="l"/>
            <a:pathLst>
              <a:path h="524735" w="708393">
                <a:moveTo>
                  <a:pt x="0" y="0"/>
                </a:moveTo>
                <a:lnTo>
                  <a:pt x="708392" y="0"/>
                </a:lnTo>
                <a:lnTo>
                  <a:pt x="708392" y="524735"/>
                </a:lnTo>
                <a:lnTo>
                  <a:pt x="0" y="524735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11229884" y="0"/>
            <a:ext cx="3400516" cy="2399610"/>
          </a:xfrm>
          <a:custGeom>
            <a:avLst/>
            <a:gdLst/>
            <a:ahLst/>
            <a:cxnLst/>
            <a:rect r="r" b="b" t="t" l="l"/>
            <a:pathLst>
              <a:path h="2399610" w="3400516">
                <a:moveTo>
                  <a:pt x="0" y="0"/>
                </a:moveTo>
                <a:lnTo>
                  <a:pt x="3400516" y="0"/>
                </a:lnTo>
                <a:lnTo>
                  <a:pt x="3400516" y="2399610"/>
                </a:lnTo>
                <a:lnTo>
                  <a:pt x="0" y="2399610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9260948" y="2294003"/>
            <a:ext cx="4792411" cy="1847466"/>
          </a:xfrm>
          <a:custGeom>
            <a:avLst/>
            <a:gdLst/>
            <a:ahLst/>
            <a:cxnLst/>
            <a:rect r="r" b="b" t="t" l="l"/>
            <a:pathLst>
              <a:path h="1847466" w="4792411">
                <a:moveTo>
                  <a:pt x="0" y="0"/>
                </a:moveTo>
                <a:lnTo>
                  <a:pt x="4792411" y="0"/>
                </a:lnTo>
                <a:lnTo>
                  <a:pt x="4792411" y="1847466"/>
                </a:lnTo>
                <a:lnTo>
                  <a:pt x="0" y="1847466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-21173" r="0" b="-21173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9487463" y="2549653"/>
            <a:ext cx="1132578" cy="928422"/>
          </a:xfrm>
          <a:custGeom>
            <a:avLst/>
            <a:gdLst/>
            <a:ahLst/>
            <a:cxnLst/>
            <a:rect r="r" b="b" t="t" l="l"/>
            <a:pathLst>
              <a:path h="928422" w="1132578">
                <a:moveTo>
                  <a:pt x="0" y="0"/>
                </a:moveTo>
                <a:lnTo>
                  <a:pt x="1132579" y="0"/>
                </a:lnTo>
                <a:lnTo>
                  <a:pt x="1132579" y="928422"/>
                </a:lnTo>
                <a:lnTo>
                  <a:pt x="0" y="928422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0" t="-10384" r="0" b="-10384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9260948" y="4200181"/>
            <a:ext cx="4792411" cy="1847466"/>
          </a:xfrm>
          <a:custGeom>
            <a:avLst/>
            <a:gdLst/>
            <a:ahLst/>
            <a:cxnLst/>
            <a:rect r="r" b="b" t="t" l="l"/>
            <a:pathLst>
              <a:path h="1847466" w="4792411">
                <a:moveTo>
                  <a:pt x="0" y="0"/>
                </a:moveTo>
                <a:lnTo>
                  <a:pt x="4792411" y="0"/>
                </a:lnTo>
                <a:lnTo>
                  <a:pt x="4792411" y="1847466"/>
                </a:lnTo>
                <a:lnTo>
                  <a:pt x="0" y="1847466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 l="0" t="-21173" r="0" b="-21173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9487463" y="4387741"/>
            <a:ext cx="1132578" cy="928422"/>
          </a:xfrm>
          <a:custGeom>
            <a:avLst/>
            <a:gdLst/>
            <a:ahLst/>
            <a:cxnLst/>
            <a:rect r="r" b="b" t="t" l="l"/>
            <a:pathLst>
              <a:path h="928422" w="1132578">
                <a:moveTo>
                  <a:pt x="0" y="0"/>
                </a:moveTo>
                <a:lnTo>
                  <a:pt x="1132579" y="0"/>
                </a:lnTo>
                <a:lnTo>
                  <a:pt x="1132579" y="928422"/>
                </a:lnTo>
                <a:lnTo>
                  <a:pt x="0" y="928422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 l="0" t="-10384" r="0" b="-10384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false" rot="0">
            <a:off x="9316367" y="6144803"/>
            <a:ext cx="4736992" cy="1867488"/>
          </a:xfrm>
          <a:custGeom>
            <a:avLst/>
            <a:gdLst/>
            <a:ahLst/>
            <a:cxnLst/>
            <a:rect r="r" b="b" t="t" l="l"/>
            <a:pathLst>
              <a:path h="1867488" w="4736992">
                <a:moveTo>
                  <a:pt x="0" y="0"/>
                </a:moveTo>
                <a:lnTo>
                  <a:pt x="4736992" y="0"/>
                </a:lnTo>
                <a:lnTo>
                  <a:pt x="4736992" y="1867488"/>
                </a:lnTo>
                <a:lnTo>
                  <a:pt x="0" y="1867488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>
              <a:fillRect l="0" t="-15225" r="0" b="-15225"/>
            </a:stretch>
          </a:blipFill>
        </p:spPr>
      </p:sp>
      <p:sp>
        <p:nvSpPr>
          <p:cNvPr name="Freeform 18" id="18"/>
          <p:cNvSpPr/>
          <p:nvPr/>
        </p:nvSpPr>
        <p:spPr>
          <a:xfrm flipH="false" flipV="false" rot="0">
            <a:off x="9487463" y="6038269"/>
            <a:ext cx="1132578" cy="928422"/>
          </a:xfrm>
          <a:custGeom>
            <a:avLst/>
            <a:gdLst/>
            <a:ahLst/>
            <a:cxnLst/>
            <a:rect r="r" b="b" t="t" l="l"/>
            <a:pathLst>
              <a:path h="928422" w="1132578">
                <a:moveTo>
                  <a:pt x="0" y="0"/>
                </a:moveTo>
                <a:lnTo>
                  <a:pt x="1132579" y="0"/>
                </a:lnTo>
                <a:lnTo>
                  <a:pt x="1132579" y="928422"/>
                </a:lnTo>
                <a:lnTo>
                  <a:pt x="0" y="928422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>
              <a:fillRect l="0" t="-10384" r="0" b="-10384"/>
            </a:stretch>
          </a:blipFill>
        </p:spPr>
      </p:sp>
      <p:sp>
        <p:nvSpPr>
          <p:cNvPr name="TextBox 19" id="19"/>
          <p:cNvSpPr txBox="true"/>
          <p:nvPr/>
        </p:nvSpPr>
        <p:spPr>
          <a:xfrm rot="0">
            <a:off x="329387" y="427193"/>
            <a:ext cx="10006999" cy="6094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692"/>
              </a:lnSpc>
            </a:pPr>
            <a:r>
              <a:rPr lang="en-US" sz="4692" spc="-281" b="true">
                <a:solidFill>
                  <a:srgbClr val="052154"/>
                </a:solidFill>
                <a:latin typeface="Gotham Bold"/>
                <a:ea typeface="Gotham Bold"/>
                <a:cs typeface="Gotham Bold"/>
                <a:sym typeface="Gotham Bold"/>
              </a:rPr>
              <a:t>Feature Importance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348852" y="1116891"/>
            <a:ext cx="7675638" cy="6094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692"/>
              </a:lnSpc>
            </a:pPr>
            <a:r>
              <a:rPr lang="en-US" sz="4692" spc="-281" b="true">
                <a:solidFill>
                  <a:srgbClr val="FD5608"/>
                </a:solidFill>
                <a:latin typeface="Gotham Bold"/>
                <a:ea typeface="Gotham Bold"/>
                <a:cs typeface="Gotham Bold"/>
                <a:sym typeface="Gotham Bold"/>
              </a:rPr>
              <a:t>las variables más relevantes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624989" y="2598560"/>
            <a:ext cx="3111228" cy="2331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65"/>
              </a:lnSpc>
            </a:pPr>
            <a:r>
              <a:rPr lang="en-US" sz="1637" spc="-48" b="true">
                <a:solidFill>
                  <a:srgbClr val="052154"/>
                </a:solidFill>
                <a:latin typeface="DM Sans Bold"/>
                <a:ea typeface="DM Sans Bold"/>
                <a:cs typeface="DM Sans Bold"/>
                <a:sym typeface="DM Sans Bold"/>
              </a:rPr>
              <a:t>Importancia por permutación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958232" y="6483280"/>
            <a:ext cx="3124603" cy="1808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33"/>
              </a:lnSpc>
            </a:pPr>
            <a:r>
              <a:rPr lang="en-US" sz="1194" spc="-35">
                <a:solidFill>
                  <a:srgbClr val="052154"/>
                </a:solidFill>
                <a:latin typeface="DM Sans"/>
                <a:ea typeface="DM Sans"/>
                <a:cs typeface="DM Sans"/>
                <a:sym typeface="DM Sans"/>
              </a:rPr>
              <a:t>Pérdida de R² (log) al desordenar la variable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5391828" y="2598560"/>
            <a:ext cx="3279091" cy="2331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65"/>
              </a:lnSpc>
            </a:pPr>
            <a:r>
              <a:rPr lang="en-US" sz="1637" spc="-48" b="true">
                <a:solidFill>
                  <a:srgbClr val="052154"/>
                </a:solidFill>
                <a:latin typeface="DM Sans Bold"/>
                <a:ea typeface="DM Sans Bold"/>
                <a:cs typeface="DM Sans Bold"/>
                <a:sym typeface="DM Sans Bold"/>
              </a:rPr>
              <a:t>Importancia nativa de XGBoost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5987578" y="6483280"/>
            <a:ext cx="2463049" cy="1808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33"/>
              </a:lnSpc>
            </a:pPr>
            <a:r>
              <a:rPr lang="en-US" sz="1194" spc="-35">
                <a:solidFill>
                  <a:srgbClr val="052154"/>
                </a:solidFill>
                <a:latin typeface="DM Sans"/>
                <a:ea typeface="DM Sans"/>
                <a:cs typeface="DM Sans"/>
                <a:sym typeface="DM Sans"/>
              </a:rPr>
              <a:t>Proporción de la importancia total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924996" y="7211488"/>
            <a:ext cx="2585208" cy="2666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95"/>
              </a:lnSpc>
            </a:pPr>
            <a:r>
              <a:rPr lang="en-US" sz="1829" spc="-54" b="true">
                <a:solidFill>
                  <a:srgbClr val="052154"/>
                </a:solidFill>
                <a:latin typeface="DM Sans Bold"/>
                <a:ea typeface="DM Sans Bold"/>
                <a:cs typeface="DM Sans Bold"/>
                <a:sym typeface="DM Sans Bold"/>
              </a:rPr>
              <a:t>¿Por qué dos métodos?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940242" y="7499171"/>
            <a:ext cx="8296034" cy="5131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079"/>
              </a:lnSpc>
            </a:pPr>
            <a:r>
              <a:rPr lang="en-US" sz="1599" spc="-47">
                <a:solidFill>
                  <a:srgbClr val="052154"/>
                </a:solidFill>
                <a:latin typeface="DM Sans"/>
                <a:ea typeface="DM Sans"/>
                <a:cs typeface="DM Sans"/>
                <a:sym typeface="DM Sans"/>
              </a:rPr>
              <a:t>La importancia por permutación mide cuánto empeora el modelo al desordenar una variable, mientras que la importancia nativa refleja los criterios internos de los árboles de XGBoost.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905980" y="6182063"/>
            <a:ext cx="248355" cy="1808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433"/>
              </a:lnSpc>
            </a:pPr>
            <a:r>
              <a:rPr lang="en-US" sz="1194" spc="-35">
                <a:solidFill>
                  <a:srgbClr val="052154"/>
                </a:solidFill>
                <a:latin typeface="DM Sans"/>
                <a:ea typeface="DM Sans"/>
                <a:cs typeface="DM Sans"/>
                <a:sym typeface="DM Sans"/>
              </a:rPr>
              <a:t>0.0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3226831" y="6182063"/>
            <a:ext cx="228209" cy="1808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433"/>
              </a:lnSpc>
            </a:pPr>
            <a:r>
              <a:rPr lang="en-US" sz="1194" spc="-35">
                <a:solidFill>
                  <a:srgbClr val="052154"/>
                </a:solidFill>
                <a:latin typeface="DM Sans"/>
                <a:ea typeface="DM Sans"/>
                <a:cs typeface="DM Sans"/>
                <a:sym typeface="DM Sans"/>
              </a:rPr>
              <a:t>0.2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4534861" y="6182063"/>
            <a:ext cx="233704" cy="1808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433"/>
              </a:lnSpc>
            </a:pPr>
            <a:r>
              <a:rPr lang="en-US" sz="1194" spc="-35">
                <a:solidFill>
                  <a:srgbClr val="052154"/>
                </a:solidFill>
                <a:latin typeface="DM Sans"/>
                <a:ea typeface="DM Sans"/>
                <a:cs typeface="DM Sans"/>
                <a:sym typeface="DM Sans"/>
              </a:rPr>
              <a:t>0.4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5431519" y="6182063"/>
            <a:ext cx="248355" cy="1808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433"/>
              </a:lnSpc>
            </a:pPr>
            <a:r>
              <a:rPr lang="en-US" sz="1194" spc="-35">
                <a:solidFill>
                  <a:srgbClr val="052154"/>
                </a:solidFill>
                <a:latin typeface="DM Sans"/>
                <a:ea typeface="DM Sans"/>
                <a:cs typeface="DM Sans"/>
                <a:sym typeface="DM Sans"/>
              </a:rPr>
              <a:t>0.0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6955766" y="6182063"/>
            <a:ext cx="228209" cy="1808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433"/>
              </a:lnSpc>
            </a:pPr>
            <a:r>
              <a:rPr lang="en-US" sz="1194" spc="-35">
                <a:solidFill>
                  <a:srgbClr val="052154"/>
                </a:solidFill>
                <a:latin typeface="DM Sans"/>
                <a:ea typeface="DM Sans"/>
                <a:cs typeface="DM Sans"/>
                <a:sym typeface="DM Sans"/>
              </a:rPr>
              <a:t>0.2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7722821" y="6182063"/>
            <a:ext cx="230873" cy="1808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433"/>
              </a:lnSpc>
            </a:pPr>
            <a:r>
              <a:rPr lang="en-US" sz="1194" spc="-35">
                <a:solidFill>
                  <a:srgbClr val="052154"/>
                </a:solidFill>
                <a:latin typeface="DM Sans"/>
                <a:ea typeface="DM Sans"/>
                <a:cs typeface="DM Sans"/>
                <a:sym typeface="DM Sans"/>
              </a:rPr>
              <a:t>0.3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8467193" y="6182063"/>
            <a:ext cx="233704" cy="1808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433"/>
              </a:lnSpc>
            </a:pPr>
            <a:r>
              <a:rPr lang="en-US" sz="1194" spc="-35">
                <a:solidFill>
                  <a:srgbClr val="052154"/>
                </a:solidFill>
                <a:latin typeface="DM Sans"/>
                <a:ea typeface="DM Sans"/>
                <a:cs typeface="DM Sans"/>
                <a:sym typeface="DM Sans"/>
              </a:rPr>
              <a:t>0.4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6232456" y="6182063"/>
            <a:ext cx="183254" cy="1808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433"/>
              </a:lnSpc>
            </a:pPr>
            <a:r>
              <a:rPr lang="en-US" sz="1194" spc="-35">
                <a:solidFill>
                  <a:srgbClr val="052154"/>
                </a:solidFill>
                <a:latin typeface="DM Sans"/>
                <a:ea typeface="DM Sans"/>
                <a:cs typeface="DM Sans"/>
                <a:sym typeface="DM Sans"/>
              </a:rPr>
              <a:t>0.1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3880887" y="6182063"/>
            <a:ext cx="230873" cy="1808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433"/>
              </a:lnSpc>
            </a:pPr>
            <a:r>
              <a:rPr lang="en-US" sz="1194" spc="-35">
                <a:solidFill>
                  <a:srgbClr val="052154"/>
                </a:solidFill>
                <a:latin typeface="DM Sans"/>
                <a:ea typeface="DM Sans"/>
                <a:cs typeface="DM Sans"/>
                <a:sym typeface="DM Sans"/>
              </a:rPr>
              <a:t>0.3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2593919" y="6182063"/>
            <a:ext cx="183254" cy="1808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433"/>
              </a:lnSpc>
            </a:pPr>
            <a:r>
              <a:rPr lang="en-US" sz="1194" spc="-35">
                <a:solidFill>
                  <a:srgbClr val="052154"/>
                </a:solidFill>
                <a:latin typeface="DM Sans"/>
                <a:ea typeface="DM Sans"/>
                <a:cs typeface="DM Sans"/>
                <a:sym typeface="DM Sans"/>
              </a:rPr>
              <a:t>0.1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329387" y="1912626"/>
            <a:ext cx="10678411" cy="2712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18"/>
              </a:lnSpc>
            </a:pPr>
            <a:r>
              <a:rPr lang="en-US" sz="1848" spc="-55">
                <a:solidFill>
                  <a:srgbClr val="57729F"/>
                </a:solidFill>
                <a:latin typeface="DM Sans"/>
                <a:ea typeface="DM Sans"/>
                <a:cs typeface="DM Sans"/>
                <a:sym typeface="DM Sans"/>
              </a:rPr>
              <a:t>Dos métodos de importancia permiten analizar qué variables utiliza XGBoost para estimar los precios.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10591716" y="2863569"/>
            <a:ext cx="3156862" cy="10137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31"/>
              </a:lnSpc>
            </a:pPr>
            <a:r>
              <a:rPr lang="en-US" sz="1563" spc="-46">
                <a:solidFill>
                  <a:srgbClr val="052154"/>
                </a:solidFill>
                <a:latin typeface="DM Sans"/>
                <a:ea typeface="DM Sans"/>
                <a:cs typeface="DM Sans"/>
                <a:sym typeface="DM Sans"/>
              </a:rPr>
              <a:t>Es una de las variables con mayor importancia predictiva. Las viviendas de mayor área suelen recibir precios estimados más altos.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10591716" y="4443750"/>
            <a:ext cx="2717059" cy="2798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39"/>
              </a:lnSpc>
            </a:pPr>
            <a:r>
              <a:rPr lang="en-US" sz="1865" spc="-55" b="true">
                <a:solidFill>
                  <a:srgbClr val="052154"/>
                </a:solidFill>
                <a:latin typeface="DM Sans Bold"/>
                <a:ea typeface="DM Sans Bold"/>
                <a:cs typeface="DM Sans Bold"/>
                <a:sym typeface="DM Sans Bold"/>
              </a:rPr>
              <a:t>Zona y código postal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10591716" y="4756573"/>
            <a:ext cx="3156862" cy="10137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28"/>
              </a:lnSpc>
            </a:pPr>
            <a:r>
              <a:rPr lang="en-US" sz="1560" spc="-46">
                <a:solidFill>
                  <a:srgbClr val="052154"/>
                </a:solidFill>
                <a:latin typeface="DM Sans"/>
                <a:ea typeface="DM Sans"/>
                <a:cs typeface="DM Sans"/>
                <a:sym typeface="DM Sans"/>
              </a:rPr>
              <a:t>Capturan diferencias de ubicación que ayudan a distinguir los precios entre viviendas. Tienen alta relevancia en ambos métodos.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10593948" y="6591276"/>
            <a:ext cx="3154629" cy="10137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28"/>
              </a:lnSpc>
            </a:pPr>
            <a:r>
              <a:rPr lang="en-US" sz="1560" spc="-46">
                <a:solidFill>
                  <a:srgbClr val="052154"/>
                </a:solidFill>
                <a:latin typeface="DM Sans"/>
                <a:ea typeface="DM Sans"/>
                <a:cs typeface="DM Sans"/>
                <a:sym typeface="DM Sans"/>
              </a:rPr>
              <a:t>Área del lote, vista, baños y año de construcción también contribuyen a las predicciones, aunque con menor importancia relativa.</a:t>
            </a:r>
          </a:p>
        </p:txBody>
      </p:sp>
      <p:sp>
        <p:nvSpPr>
          <p:cNvPr name="TextBox 42" id="42"/>
          <p:cNvSpPr txBox="true"/>
          <p:nvPr/>
        </p:nvSpPr>
        <p:spPr>
          <a:xfrm rot="0">
            <a:off x="10600526" y="2549653"/>
            <a:ext cx="2213370" cy="2798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09"/>
              </a:lnSpc>
            </a:pPr>
            <a:r>
              <a:rPr lang="en-US" sz="1841" spc="-54" b="true">
                <a:solidFill>
                  <a:srgbClr val="052154"/>
                </a:solidFill>
                <a:latin typeface="DM Sans Bold"/>
                <a:ea typeface="DM Sans Bold"/>
                <a:cs typeface="DM Sans Bold"/>
                <a:sym typeface="DM Sans Bold"/>
              </a:rPr>
              <a:t>Área construida</a:t>
            </a:r>
          </a:p>
        </p:txBody>
      </p:sp>
      <p:sp>
        <p:nvSpPr>
          <p:cNvPr name="TextBox 43" id="43"/>
          <p:cNvSpPr txBox="true"/>
          <p:nvPr/>
        </p:nvSpPr>
        <p:spPr>
          <a:xfrm rot="0">
            <a:off x="10602131" y="6251989"/>
            <a:ext cx="1565391" cy="2439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08"/>
              </a:lnSpc>
            </a:pPr>
            <a:r>
              <a:rPr lang="en-US" sz="1590" spc="-47" b="true">
                <a:solidFill>
                  <a:srgbClr val="052154"/>
                </a:solidFill>
                <a:latin typeface="DM Sans Bold"/>
                <a:ea typeface="DM Sans Bold"/>
                <a:cs typeface="DM Sans Bold"/>
                <a:sym typeface="DM Sans Bold"/>
              </a:rPr>
              <a:t>Otros factores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276457" y="493436"/>
            <a:ext cx="11334513" cy="6263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83"/>
              </a:lnSpc>
            </a:pPr>
            <a:r>
              <a:rPr lang="en-US" sz="4783" spc="-95" b="true">
                <a:solidFill>
                  <a:srgbClr val="0A2F5B"/>
                </a:solidFill>
                <a:latin typeface="Lato Heavy"/>
                <a:ea typeface="Lato Heavy"/>
                <a:cs typeface="Lato Heavy"/>
                <a:sym typeface="Lato Heavy"/>
              </a:rPr>
              <a:t>El modelo se comporta de </a:t>
            </a:r>
            <a:r>
              <a:rPr lang="en-US" sz="4783" spc="-95" b="true">
                <a:solidFill>
                  <a:srgbClr val="F64D0D"/>
                </a:solidFill>
                <a:latin typeface="Lato Heavy"/>
                <a:ea typeface="Lato Heavy"/>
                <a:cs typeface="Lato Heavy"/>
                <a:sym typeface="Lato Heavy"/>
              </a:rPr>
              <a:t>forma razonable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343132" y="1463090"/>
            <a:ext cx="8566089" cy="295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8"/>
              </a:lnSpc>
            </a:pPr>
            <a:r>
              <a:rPr lang="en-US" sz="1957" spc="-39">
                <a:solidFill>
                  <a:srgbClr val="0A2F5B">
                    <a:alpha val="60000"/>
                  </a:srgbClr>
                </a:solidFill>
                <a:latin typeface="Lato"/>
                <a:ea typeface="Lato"/>
                <a:cs typeface="Lato"/>
                <a:sym typeface="Lato"/>
              </a:rPr>
              <a:t>SHAP nos muestra cómo cada variable influye en las predicciones del precio.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0">
            <a:off x="343132" y="1758315"/>
            <a:ext cx="704850" cy="342900"/>
          </a:xfrm>
          <a:custGeom>
            <a:avLst/>
            <a:gdLst/>
            <a:ahLst/>
            <a:cxnLst/>
            <a:rect r="r" b="b" t="t" l="l"/>
            <a:pathLst>
              <a:path h="342900" w="704850">
                <a:moveTo>
                  <a:pt x="0" y="0"/>
                </a:moveTo>
                <a:lnTo>
                  <a:pt x="704850" y="0"/>
                </a:lnTo>
                <a:lnTo>
                  <a:pt x="704850" y="342900"/>
                </a:lnTo>
                <a:lnTo>
                  <a:pt x="0" y="3429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276457" y="2263140"/>
            <a:ext cx="6972300" cy="5143500"/>
          </a:xfrm>
          <a:custGeom>
            <a:avLst/>
            <a:gdLst/>
            <a:ahLst/>
            <a:cxnLst/>
            <a:rect r="r" b="b" t="t" l="l"/>
            <a:pathLst>
              <a:path h="5143500" w="6972300">
                <a:moveTo>
                  <a:pt x="0" y="0"/>
                </a:moveTo>
                <a:lnTo>
                  <a:pt x="6972300" y="0"/>
                </a:lnTo>
                <a:lnTo>
                  <a:pt x="6972300" y="5143500"/>
                </a:lnTo>
                <a:lnTo>
                  <a:pt x="0" y="51435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490769" y="2398523"/>
            <a:ext cx="5636419" cy="2809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28"/>
              </a:lnSpc>
            </a:pPr>
            <a:r>
              <a:rPr lang="en-US" sz="1857" spc="-37" b="true">
                <a:solidFill>
                  <a:srgbClr val="0A2F5B"/>
                </a:solidFill>
                <a:latin typeface="Lato Bold"/>
                <a:ea typeface="Lato Bold"/>
                <a:cs typeface="Lato Bold"/>
                <a:sym typeface="Lato Bold"/>
              </a:rPr>
              <a:t>Resumen de impacto de variables (SHAP)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435424" y="2709029"/>
            <a:ext cx="5534478" cy="3809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52"/>
              </a:lnSpc>
            </a:pPr>
            <a:r>
              <a:rPr lang="en-US" sz="1293" spc="-25">
                <a:solidFill>
                  <a:srgbClr val="0A2F5B">
                    <a:alpha val="60000"/>
                  </a:srgbClr>
                </a:solidFill>
                <a:latin typeface="Lato"/>
                <a:ea typeface="Lato"/>
                <a:cs typeface="Lato"/>
                <a:sym typeface="Lato"/>
              </a:rPr>
              <a:t>Cada punto representa una vivienda. El color indica el valor de la variable (rojo = alto, azul = bajo).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447907" y="3385346"/>
            <a:ext cx="1445751" cy="28508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350"/>
              </a:lnSpc>
            </a:pPr>
            <a:r>
              <a:rPr lang="en-US" sz="1305" spc="-26">
                <a:solidFill>
                  <a:srgbClr val="0A2F5B"/>
                </a:solidFill>
                <a:latin typeface="Lato"/>
                <a:ea typeface="Lato"/>
                <a:cs typeface="Lato"/>
                <a:sym typeface="Lato"/>
              </a:rPr>
              <a:t>area_construida_m2</a:t>
            </a:r>
          </a:p>
          <a:p>
            <a:pPr algn="r">
              <a:lnSpc>
                <a:spcPts val="2350"/>
              </a:lnSpc>
            </a:pPr>
            <a:r>
              <a:rPr lang="en-US" sz="1305" spc="-26">
                <a:solidFill>
                  <a:srgbClr val="0A2F5B"/>
                </a:solidFill>
                <a:latin typeface="Lato"/>
                <a:ea typeface="Lato"/>
                <a:cs typeface="Lato"/>
                <a:sym typeface="Lato"/>
              </a:rPr>
              <a:t>zona</a:t>
            </a:r>
          </a:p>
          <a:p>
            <a:pPr algn="r">
              <a:lnSpc>
                <a:spcPts val="2350"/>
              </a:lnSpc>
            </a:pPr>
            <a:r>
              <a:rPr lang="en-US" sz="1305" spc="-26">
                <a:solidFill>
                  <a:srgbClr val="0A2F5B"/>
                </a:solidFill>
                <a:latin typeface="Lato"/>
                <a:ea typeface="Lato"/>
                <a:cs typeface="Lato"/>
                <a:sym typeface="Lato"/>
              </a:rPr>
              <a:t>codigo-postal</a:t>
            </a:r>
          </a:p>
          <a:p>
            <a:pPr algn="r">
              <a:lnSpc>
                <a:spcPts val="2350"/>
              </a:lnSpc>
            </a:pPr>
            <a:r>
              <a:rPr lang="en-US" sz="1305" spc="-26">
                <a:solidFill>
                  <a:srgbClr val="0A2F5B"/>
                </a:solidFill>
                <a:latin typeface="Lato"/>
                <a:ea typeface="Lato"/>
                <a:cs typeface="Lato"/>
                <a:sym typeface="Lato"/>
              </a:rPr>
              <a:t>area_lote_m2</a:t>
            </a:r>
          </a:p>
          <a:p>
            <a:pPr algn="r">
              <a:lnSpc>
                <a:spcPts val="2350"/>
              </a:lnSpc>
            </a:pPr>
            <a:r>
              <a:rPr lang="en-US" sz="1305" spc="-26">
                <a:solidFill>
                  <a:srgbClr val="0A2F5B"/>
                </a:solidFill>
                <a:latin typeface="Lato"/>
                <a:ea typeface="Lato"/>
                <a:cs typeface="Lato"/>
                <a:sym typeface="Lato"/>
              </a:rPr>
              <a:t>vista</a:t>
            </a:r>
          </a:p>
          <a:p>
            <a:pPr algn="r">
              <a:lnSpc>
                <a:spcPts val="2350"/>
              </a:lnSpc>
            </a:pPr>
            <a:r>
              <a:rPr lang="en-US" sz="1305" spc="-26">
                <a:solidFill>
                  <a:srgbClr val="0A2F5B"/>
                </a:solidFill>
                <a:latin typeface="Lato"/>
                <a:ea typeface="Lato"/>
                <a:cs typeface="Lato"/>
                <a:sym typeface="Lato"/>
              </a:rPr>
              <a:t>banos</a:t>
            </a:r>
          </a:p>
          <a:p>
            <a:pPr algn="r">
              <a:lnSpc>
                <a:spcPts val="2350"/>
              </a:lnSpc>
            </a:pPr>
            <a:r>
              <a:rPr lang="en-US" sz="1305" spc="-26">
                <a:solidFill>
                  <a:srgbClr val="0A2F5B"/>
                </a:solidFill>
                <a:latin typeface="Lato"/>
                <a:ea typeface="Lato"/>
                <a:cs typeface="Lato"/>
                <a:sym typeface="Lato"/>
              </a:rPr>
              <a:t>anio_construccion</a:t>
            </a:r>
          </a:p>
          <a:p>
            <a:pPr algn="r">
              <a:lnSpc>
                <a:spcPts val="2350"/>
              </a:lnSpc>
            </a:pPr>
            <a:r>
              <a:rPr lang="en-US" sz="1305" spc="-26">
                <a:solidFill>
                  <a:srgbClr val="0A2F5B"/>
                </a:solidFill>
                <a:latin typeface="Lato"/>
                <a:ea typeface="Lato"/>
                <a:cs typeface="Lato"/>
                <a:sym typeface="Lato"/>
              </a:rPr>
              <a:t>condicion</a:t>
            </a:r>
          </a:p>
          <a:p>
            <a:pPr algn="r">
              <a:lnSpc>
                <a:spcPts val="2350"/>
              </a:lnSpc>
            </a:pPr>
            <a:r>
              <a:rPr lang="en-US" sz="1305" spc="-26">
                <a:solidFill>
                  <a:srgbClr val="0A2F5B"/>
                </a:solidFill>
                <a:latin typeface="Lato"/>
                <a:ea typeface="Lato"/>
                <a:cs typeface="Lato"/>
                <a:sym typeface="Lato"/>
              </a:rPr>
              <a:t>habitaciones</a:t>
            </a:r>
          </a:p>
          <a:p>
            <a:pPr algn="r">
              <a:lnSpc>
                <a:spcPts val="2350"/>
              </a:lnSpc>
            </a:pPr>
            <a:r>
              <a:rPr lang="en-US" sz="1305" spc="-26">
                <a:solidFill>
                  <a:srgbClr val="0A2F5B"/>
                </a:solidFill>
                <a:latin typeface="Lato"/>
                <a:ea typeface="Lato"/>
                <a:cs typeface="Lato"/>
                <a:sym typeface="Lato"/>
              </a:rPr>
              <a:t>pisos</a:t>
            </a:r>
          </a:p>
        </p:txBody>
      </p:sp>
      <p:sp>
        <p:nvSpPr>
          <p:cNvPr name="Freeform 9" id="9"/>
          <p:cNvSpPr/>
          <p:nvPr/>
        </p:nvSpPr>
        <p:spPr>
          <a:xfrm flipH="false" flipV="false" rot="0">
            <a:off x="1848082" y="3291840"/>
            <a:ext cx="180975" cy="3257550"/>
          </a:xfrm>
          <a:custGeom>
            <a:avLst/>
            <a:gdLst/>
            <a:ahLst/>
            <a:cxnLst/>
            <a:rect r="r" b="b" t="t" l="l"/>
            <a:pathLst>
              <a:path h="3257550" w="180975">
                <a:moveTo>
                  <a:pt x="0" y="0"/>
                </a:moveTo>
                <a:lnTo>
                  <a:pt x="180975" y="0"/>
                </a:lnTo>
                <a:lnTo>
                  <a:pt x="180975" y="3257550"/>
                </a:lnTo>
                <a:lnTo>
                  <a:pt x="0" y="325755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2019532" y="3463290"/>
            <a:ext cx="4362450" cy="3086100"/>
          </a:xfrm>
          <a:custGeom>
            <a:avLst/>
            <a:gdLst/>
            <a:ahLst/>
            <a:cxnLst/>
            <a:rect r="r" b="b" t="t" l="l"/>
            <a:pathLst>
              <a:path h="3086100" w="4362450">
                <a:moveTo>
                  <a:pt x="0" y="0"/>
                </a:moveTo>
                <a:lnTo>
                  <a:pt x="4362450" y="0"/>
                </a:lnTo>
                <a:lnTo>
                  <a:pt x="4362450" y="3086100"/>
                </a:lnTo>
                <a:lnTo>
                  <a:pt x="0" y="308610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6372457" y="3291840"/>
            <a:ext cx="180975" cy="3257550"/>
          </a:xfrm>
          <a:custGeom>
            <a:avLst/>
            <a:gdLst/>
            <a:ahLst/>
            <a:cxnLst/>
            <a:rect r="r" b="b" t="t" l="l"/>
            <a:pathLst>
              <a:path h="3257550" w="180975">
                <a:moveTo>
                  <a:pt x="0" y="0"/>
                </a:moveTo>
                <a:lnTo>
                  <a:pt x="180975" y="0"/>
                </a:lnTo>
                <a:lnTo>
                  <a:pt x="180975" y="3257550"/>
                </a:lnTo>
                <a:lnTo>
                  <a:pt x="0" y="325755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3762607" y="3291840"/>
            <a:ext cx="180975" cy="3257550"/>
          </a:xfrm>
          <a:custGeom>
            <a:avLst/>
            <a:gdLst/>
            <a:ahLst/>
            <a:cxnLst/>
            <a:rect r="r" b="b" t="t" l="l"/>
            <a:pathLst>
              <a:path h="3257550" w="180975">
                <a:moveTo>
                  <a:pt x="0" y="0"/>
                </a:moveTo>
                <a:lnTo>
                  <a:pt x="180975" y="0"/>
                </a:lnTo>
                <a:lnTo>
                  <a:pt x="180975" y="3257550"/>
                </a:lnTo>
                <a:lnTo>
                  <a:pt x="0" y="3257550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2019532" y="6377940"/>
            <a:ext cx="4191000" cy="171450"/>
          </a:xfrm>
          <a:custGeom>
            <a:avLst/>
            <a:gdLst/>
            <a:ahLst/>
            <a:cxnLst/>
            <a:rect r="r" b="b" t="t" l="l"/>
            <a:pathLst>
              <a:path h="171450" w="4191000">
                <a:moveTo>
                  <a:pt x="0" y="0"/>
                </a:moveTo>
                <a:lnTo>
                  <a:pt x="4191000" y="0"/>
                </a:lnTo>
                <a:lnTo>
                  <a:pt x="4191000" y="171450"/>
                </a:lnTo>
                <a:lnTo>
                  <a:pt x="0" y="171450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2019532" y="6377940"/>
            <a:ext cx="180975" cy="171450"/>
          </a:xfrm>
          <a:custGeom>
            <a:avLst/>
            <a:gdLst/>
            <a:ahLst/>
            <a:cxnLst/>
            <a:rect r="r" b="b" t="t" l="l"/>
            <a:pathLst>
              <a:path h="171450" w="180975">
                <a:moveTo>
                  <a:pt x="0" y="0"/>
                </a:moveTo>
                <a:lnTo>
                  <a:pt x="180975" y="0"/>
                </a:lnTo>
                <a:lnTo>
                  <a:pt x="180975" y="171450"/>
                </a:lnTo>
                <a:lnTo>
                  <a:pt x="0" y="171450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2543407" y="6377940"/>
            <a:ext cx="352425" cy="171450"/>
          </a:xfrm>
          <a:custGeom>
            <a:avLst/>
            <a:gdLst/>
            <a:ahLst/>
            <a:cxnLst/>
            <a:rect r="r" b="b" t="t" l="l"/>
            <a:pathLst>
              <a:path h="171450" w="352425">
                <a:moveTo>
                  <a:pt x="0" y="0"/>
                </a:moveTo>
                <a:lnTo>
                  <a:pt x="352425" y="0"/>
                </a:lnTo>
                <a:lnTo>
                  <a:pt x="352425" y="171450"/>
                </a:lnTo>
                <a:lnTo>
                  <a:pt x="0" y="171450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3238732" y="6377940"/>
            <a:ext cx="180975" cy="171450"/>
          </a:xfrm>
          <a:custGeom>
            <a:avLst/>
            <a:gdLst/>
            <a:ahLst/>
            <a:cxnLst/>
            <a:rect r="r" b="b" t="t" l="l"/>
            <a:pathLst>
              <a:path h="171450" w="180975">
                <a:moveTo>
                  <a:pt x="0" y="0"/>
                </a:moveTo>
                <a:lnTo>
                  <a:pt x="180975" y="0"/>
                </a:lnTo>
                <a:lnTo>
                  <a:pt x="180975" y="171450"/>
                </a:lnTo>
                <a:lnTo>
                  <a:pt x="0" y="171450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0" t="0" r="0" b="0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false" rot="0">
            <a:off x="3762607" y="6377940"/>
            <a:ext cx="180975" cy="171450"/>
          </a:xfrm>
          <a:custGeom>
            <a:avLst/>
            <a:gdLst/>
            <a:ahLst/>
            <a:cxnLst/>
            <a:rect r="r" b="b" t="t" l="l"/>
            <a:pathLst>
              <a:path h="171450" w="180975">
                <a:moveTo>
                  <a:pt x="0" y="0"/>
                </a:moveTo>
                <a:lnTo>
                  <a:pt x="180975" y="0"/>
                </a:lnTo>
                <a:lnTo>
                  <a:pt x="180975" y="171450"/>
                </a:lnTo>
                <a:lnTo>
                  <a:pt x="0" y="171450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 l="0" t="0" r="0" b="0"/>
            </a:stretch>
          </a:blipFill>
        </p:spPr>
      </p:sp>
      <p:sp>
        <p:nvSpPr>
          <p:cNvPr name="Freeform 18" id="18"/>
          <p:cNvSpPr/>
          <p:nvPr/>
        </p:nvSpPr>
        <p:spPr>
          <a:xfrm flipH="false" flipV="false" rot="0">
            <a:off x="4286482" y="6377940"/>
            <a:ext cx="352425" cy="171450"/>
          </a:xfrm>
          <a:custGeom>
            <a:avLst/>
            <a:gdLst/>
            <a:ahLst/>
            <a:cxnLst/>
            <a:rect r="r" b="b" t="t" l="l"/>
            <a:pathLst>
              <a:path h="171450" w="352425">
                <a:moveTo>
                  <a:pt x="0" y="0"/>
                </a:moveTo>
                <a:lnTo>
                  <a:pt x="352425" y="0"/>
                </a:lnTo>
                <a:lnTo>
                  <a:pt x="352425" y="171450"/>
                </a:lnTo>
                <a:lnTo>
                  <a:pt x="0" y="171450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 l="0" t="0" r="0" b="0"/>
            </a:stretch>
          </a:blipFill>
        </p:spPr>
      </p:sp>
      <p:sp>
        <p:nvSpPr>
          <p:cNvPr name="Freeform 19" id="19"/>
          <p:cNvSpPr/>
          <p:nvPr/>
        </p:nvSpPr>
        <p:spPr>
          <a:xfrm flipH="false" flipV="false" rot="0">
            <a:off x="4981807" y="6377940"/>
            <a:ext cx="180975" cy="171450"/>
          </a:xfrm>
          <a:custGeom>
            <a:avLst/>
            <a:gdLst/>
            <a:ahLst/>
            <a:cxnLst/>
            <a:rect r="r" b="b" t="t" l="l"/>
            <a:pathLst>
              <a:path h="171450" w="180975">
                <a:moveTo>
                  <a:pt x="0" y="0"/>
                </a:moveTo>
                <a:lnTo>
                  <a:pt x="180975" y="0"/>
                </a:lnTo>
                <a:lnTo>
                  <a:pt x="180975" y="171450"/>
                </a:lnTo>
                <a:lnTo>
                  <a:pt x="0" y="171450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>
              <a:fillRect l="0" t="0" r="0" b="0"/>
            </a:stretch>
          </a:blipFill>
        </p:spPr>
      </p:sp>
      <p:sp>
        <p:nvSpPr>
          <p:cNvPr name="Freeform 20" id="20"/>
          <p:cNvSpPr/>
          <p:nvPr/>
        </p:nvSpPr>
        <p:spPr>
          <a:xfrm flipH="false" flipV="false" rot="0">
            <a:off x="5505682" y="6377940"/>
            <a:ext cx="180975" cy="171450"/>
          </a:xfrm>
          <a:custGeom>
            <a:avLst/>
            <a:gdLst/>
            <a:ahLst/>
            <a:cxnLst/>
            <a:rect r="r" b="b" t="t" l="l"/>
            <a:pathLst>
              <a:path h="171450" w="180975">
                <a:moveTo>
                  <a:pt x="0" y="0"/>
                </a:moveTo>
                <a:lnTo>
                  <a:pt x="180975" y="0"/>
                </a:lnTo>
                <a:lnTo>
                  <a:pt x="180975" y="171450"/>
                </a:lnTo>
                <a:lnTo>
                  <a:pt x="0" y="171450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>
              <a:fillRect l="0" t="0" r="0" b="0"/>
            </a:stretch>
          </a:blipFill>
        </p:spPr>
      </p:sp>
      <p:sp>
        <p:nvSpPr>
          <p:cNvPr name="Freeform 21" id="21"/>
          <p:cNvSpPr/>
          <p:nvPr/>
        </p:nvSpPr>
        <p:spPr>
          <a:xfrm flipH="false" flipV="false" rot="0">
            <a:off x="6029557" y="6377940"/>
            <a:ext cx="352425" cy="171450"/>
          </a:xfrm>
          <a:custGeom>
            <a:avLst/>
            <a:gdLst/>
            <a:ahLst/>
            <a:cxnLst/>
            <a:rect r="r" b="b" t="t" l="l"/>
            <a:pathLst>
              <a:path h="171450" w="352425">
                <a:moveTo>
                  <a:pt x="0" y="0"/>
                </a:moveTo>
                <a:lnTo>
                  <a:pt x="352425" y="0"/>
                </a:lnTo>
                <a:lnTo>
                  <a:pt x="352425" y="171450"/>
                </a:lnTo>
                <a:lnTo>
                  <a:pt x="0" y="171450"/>
                </a:lnTo>
                <a:lnTo>
                  <a:pt x="0" y="0"/>
                </a:lnTo>
                <a:close/>
              </a:path>
            </a:pathLst>
          </a:custGeom>
          <a:blipFill>
            <a:blip r:embed="rId16"/>
            <a:stretch>
              <a:fillRect l="0" t="0" r="0" b="0"/>
            </a:stretch>
          </a:blipFill>
        </p:spPr>
      </p:sp>
      <p:sp>
        <p:nvSpPr>
          <p:cNvPr name="Freeform 22" id="22"/>
          <p:cNvSpPr/>
          <p:nvPr/>
        </p:nvSpPr>
        <p:spPr>
          <a:xfrm flipH="false" flipV="false" rot="0">
            <a:off x="12011025" y="0"/>
            <a:ext cx="2105025" cy="1028700"/>
          </a:xfrm>
          <a:custGeom>
            <a:avLst/>
            <a:gdLst/>
            <a:ahLst/>
            <a:cxnLst/>
            <a:rect r="r" b="b" t="t" l="l"/>
            <a:pathLst>
              <a:path h="1028700" w="2105025">
                <a:moveTo>
                  <a:pt x="0" y="0"/>
                </a:moveTo>
                <a:lnTo>
                  <a:pt x="2105025" y="0"/>
                </a:lnTo>
                <a:lnTo>
                  <a:pt x="2105025" y="1028700"/>
                </a:lnTo>
                <a:lnTo>
                  <a:pt x="0" y="1028700"/>
                </a:lnTo>
                <a:lnTo>
                  <a:pt x="0" y="0"/>
                </a:lnTo>
                <a:close/>
              </a:path>
            </a:pathLst>
          </a:custGeom>
          <a:blipFill>
            <a:blip r:embed="rId17"/>
            <a:stretch>
              <a:fillRect l="0" t="0" r="0" b="0"/>
            </a:stretch>
          </a:blipFill>
        </p:spPr>
      </p:sp>
      <p:sp>
        <p:nvSpPr>
          <p:cNvPr name="Freeform 23" id="23"/>
          <p:cNvSpPr/>
          <p:nvPr/>
        </p:nvSpPr>
        <p:spPr>
          <a:xfrm flipH="false" flipV="false" rot="0">
            <a:off x="7359365" y="3572043"/>
            <a:ext cx="4838905" cy="1631326"/>
          </a:xfrm>
          <a:custGeom>
            <a:avLst/>
            <a:gdLst/>
            <a:ahLst/>
            <a:cxnLst/>
            <a:rect r="r" b="b" t="t" l="l"/>
            <a:pathLst>
              <a:path h="1631326" w="4838905">
                <a:moveTo>
                  <a:pt x="0" y="0"/>
                </a:moveTo>
                <a:lnTo>
                  <a:pt x="4838905" y="0"/>
                </a:lnTo>
                <a:lnTo>
                  <a:pt x="4838905" y="1631325"/>
                </a:lnTo>
                <a:lnTo>
                  <a:pt x="0" y="1631325"/>
                </a:lnTo>
                <a:lnTo>
                  <a:pt x="0" y="0"/>
                </a:lnTo>
                <a:close/>
              </a:path>
            </a:pathLst>
          </a:custGeom>
          <a:blipFill>
            <a:blip r:embed="rId18"/>
            <a:stretch>
              <a:fillRect l="-7826" t="0" r="-7826" b="0"/>
            </a:stretch>
          </a:blipFill>
        </p:spPr>
      </p:sp>
      <p:sp>
        <p:nvSpPr>
          <p:cNvPr name="Freeform 24" id="24"/>
          <p:cNvSpPr/>
          <p:nvPr/>
        </p:nvSpPr>
        <p:spPr>
          <a:xfrm flipH="false" flipV="false" rot="0">
            <a:off x="12011025" y="171450"/>
            <a:ext cx="2619375" cy="6515100"/>
          </a:xfrm>
          <a:custGeom>
            <a:avLst/>
            <a:gdLst/>
            <a:ahLst/>
            <a:cxnLst/>
            <a:rect r="r" b="b" t="t" l="l"/>
            <a:pathLst>
              <a:path h="6515100" w="2619375">
                <a:moveTo>
                  <a:pt x="0" y="0"/>
                </a:moveTo>
                <a:lnTo>
                  <a:pt x="2619375" y="0"/>
                </a:lnTo>
                <a:lnTo>
                  <a:pt x="2619375" y="6515100"/>
                </a:lnTo>
                <a:lnTo>
                  <a:pt x="0" y="6515100"/>
                </a:lnTo>
                <a:lnTo>
                  <a:pt x="0" y="0"/>
                </a:lnTo>
                <a:close/>
              </a:path>
            </a:pathLst>
          </a:custGeom>
          <a:blipFill>
            <a:blip r:embed="rId19"/>
            <a:stretch>
              <a:fillRect l="0" t="0" r="0" b="0"/>
            </a:stretch>
          </a:blipFill>
        </p:spPr>
      </p:sp>
      <p:sp>
        <p:nvSpPr>
          <p:cNvPr name="Freeform 25" id="25"/>
          <p:cNvSpPr/>
          <p:nvPr/>
        </p:nvSpPr>
        <p:spPr>
          <a:xfrm flipH="false" flipV="false" rot="0">
            <a:off x="12534900" y="5657850"/>
            <a:ext cx="2095500" cy="1371600"/>
          </a:xfrm>
          <a:custGeom>
            <a:avLst/>
            <a:gdLst/>
            <a:ahLst/>
            <a:cxnLst/>
            <a:rect r="r" b="b" t="t" l="l"/>
            <a:pathLst>
              <a:path h="1371600" w="2095500">
                <a:moveTo>
                  <a:pt x="0" y="0"/>
                </a:moveTo>
                <a:lnTo>
                  <a:pt x="2095500" y="0"/>
                </a:lnTo>
                <a:lnTo>
                  <a:pt x="2095500" y="1371600"/>
                </a:lnTo>
                <a:lnTo>
                  <a:pt x="0" y="1371600"/>
                </a:lnTo>
                <a:lnTo>
                  <a:pt x="0" y="0"/>
                </a:lnTo>
                <a:close/>
              </a:path>
            </a:pathLst>
          </a:custGeom>
          <a:blipFill>
            <a:blip r:embed="rId20"/>
            <a:stretch>
              <a:fillRect l="0" t="0" r="0" b="0"/>
            </a:stretch>
          </a:blipFill>
        </p:spPr>
      </p:sp>
      <p:sp>
        <p:nvSpPr>
          <p:cNvPr name="Freeform 26" id="26"/>
          <p:cNvSpPr/>
          <p:nvPr/>
        </p:nvSpPr>
        <p:spPr>
          <a:xfrm flipH="false" flipV="false" rot="0">
            <a:off x="7248757" y="2263140"/>
            <a:ext cx="4838905" cy="1410531"/>
          </a:xfrm>
          <a:custGeom>
            <a:avLst/>
            <a:gdLst/>
            <a:ahLst/>
            <a:cxnLst/>
            <a:rect r="r" b="b" t="t" l="l"/>
            <a:pathLst>
              <a:path h="1410531" w="4838905">
                <a:moveTo>
                  <a:pt x="0" y="0"/>
                </a:moveTo>
                <a:lnTo>
                  <a:pt x="4838905" y="0"/>
                </a:lnTo>
                <a:lnTo>
                  <a:pt x="4838905" y="1410531"/>
                </a:lnTo>
                <a:lnTo>
                  <a:pt x="0" y="1410531"/>
                </a:lnTo>
                <a:lnTo>
                  <a:pt x="0" y="0"/>
                </a:lnTo>
                <a:close/>
              </a:path>
            </a:pathLst>
          </a:custGeom>
          <a:blipFill>
            <a:blip r:embed="rId21"/>
            <a:stretch>
              <a:fillRect l="0" t="0" r="0" b="0"/>
            </a:stretch>
          </a:blipFill>
        </p:spPr>
      </p:sp>
      <p:sp>
        <p:nvSpPr>
          <p:cNvPr name="Freeform 27" id="27"/>
          <p:cNvSpPr/>
          <p:nvPr/>
        </p:nvSpPr>
        <p:spPr>
          <a:xfrm flipH="false" flipV="false" rot="0">
            <a:off x="7425073" y="2439456"/>
            <a:ext cx="724856" cy="705266"/>
          </a:xfrm>
          <a:custGeom>
            <a:avLst/>
            <a:gdLst/>
            <a:ahLst/>
            <a:cxnLst/>
            <a:rect r="r" b="b" t="t" l="l"/>
            <a:pathLst>
              <a:path h="705266" w="724856">
                <a:moveTo>
                  <a:pt x="0" y="0"/>
                </a:moveTo>
                <a:lnTo>
                  <a:pt x="724856" y="0"/>
                </a:lnTo>
                <a:lnTo>
                  <a:pt x="724856" y="705266"/>
                </a:lnTo>
                <a:lnTo>
                  <a:pt x="0" y="705266"/>
                </a:lnTo>
                <a:lnTo>
                  <a:pt x="0" y="0"/>
                </a:lnTo>
                <a:close/>
              </a:path>
            </a:pathLst>
          </a:custGeom>
          <a:blipFill>
            <a:blip r:embed="rId22"/>
            <a:stretch>
              <a:fillRect l="0" t="0" r="0" b="0"/>
            </a:stretch>
          </a:blipFill>
        </p:spPr>
      </p:sp>
      <p:sp>
        <p:nvSpPr>
          <p:cNvPr name="Freeform 28" id="28"/>
          <p:cNvSpPr/>
          <p:nvPr/>
        </p:nvSpPr>
        <p:spPr>
          <a:xfrm flipH="false" flipV="false" rot="0">
            <a:off x="8140134" y="2263140"/>
            <a:ext cx="548540" cy="528949"/>
          </a:xfrm>
          <a:custGeom>
            <a:avLst/>
            <a:gdLst/>
            <a:ahLst/>
            <a:cxnLst/>
            <a:rect r="r" b="b" t="t" l="l"/>
            <a:pathLst>
              <a:path h="528949" w="548540">
                <a:moveTo>
                  <a:pt x="0" y="0"/>
                </a:moveTo>
                <a:lnTo>
                  <a:pt x="548540" y="0"/>
                </a:lnTo>
                <a:lnTo>
                  <a:pt x="548540" y="528949"/>
                </a:lnTo>
                <a:lnTo>
                  <a:pt x="0" y="528949"/>
                </a:lnTo>
                <a:lnTo>
                  <a:pt x="0" y="0"/>
                </a:lnTo>
                <a:close/>
              </a:path>
            </a:pathLst>
          </a:custGeom>
          <a:blipFill>
            <a:blip r:embed="rId23"/>
            <a:stretch>
              <a:fillRect l="0" t="0" r="0" b="0"/>
            </a:stretch>
          </a:blipFill>
        </p:spPr>
      </p:sp>
      <p:sp>
        <p:nvSpPr>
          <p:cNvPr name="TextBox 29" id="29"/>
          <p:cNvSpPr txBox="true"/>
          <p:nvPr/>
        </p:nvSpPr>
        <p:spPr>
          <a:xfrm rot="0">
            <a:off x="8726610" y="2446344"/>
            <a:ext cx="1659647" cy="2644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86"/>
              </a:lnSpc>
            </a:pPr>
            <a:r>
              <a:rPr lang="en-US" sz="1738" spc="-34" b="true">
                <a:solidFill>
                  <a:srgbClr val="0A2F5B"/>
                </a:solidFill>
                <a:latin typeface="Lato Bold"/>
                <a:ea typeface="Lato Bold"/>
                <a:cs typeface="Lato Bold"/>
                <a:sym typeface="Lato Bold"/>
              </a:rPr>
              <a:t>Área construida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8735859" y="2759040"/>
            <a:ext cx="2628009" cy="6966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65"/>
              </a:lnSpc>
            </a:pPr>
            <a:r>
              <a:rPr lang="en-US" sz="1434" spc="-28">
                <a:solidFill>
                  <a:srgbClr val="0A2F5B"/>
                </a:solidFill>
                <a:latin typeface="Lato"/>
                <a:ea typeface="Lato"/>
                <a:cs typeface="Lato"/>
                <a:sym typeface="Lato"/>
              </a:rPr>
              <a:t>Es la variable con mayor impacto.</a:t>
            </a:r>
          </a:p>
          <a:p>
            <a:pPr algn="l">
              <a:lnSpc>
                <a:spcPts val="1865"/>
              </a:lnSpc>
            </a:pPr>
            <a:r>
              <a:rPr lang="en-US" sz="1434" spc="-28">
                <a:solidFill>
                  <a:srgbClr val="0A2F5B"/>
                </a:solidFill>
                <a:latin typeface="Lato"/>
                <a:ea typeface="Lato"/>
                <a:cs typeface="Lato"/>
                <a:sym typeface="Lato"/>
              </a:rPr>
              <a:t>Los valores altos tienden a aumentar el precio predicho.</a:t>
            </a:r>
          </a:p>
        </p:txBody>
      </p:sp>
      <p:sp>
        <p:nvSpPr>
          <p:cNvPr name="Freeform 31" id="31"/>
          <p:cNvSpPr/>
          <p:nvPr/>
        </p:nvSpPr>
        <p:spPr>
          <a:xfrm flipH="false" flipV="false" rot="0">
            <a:off x="7425073" y="3673671"/>
            <a:ext cx="724856" cy="881582"/>
          </a:xfrm>
          <a:custGeom>
            <a:avLst/>
            <a:gdLst/>
            <a:ahLst/>
            <a:cxnLst/>
            <a:rect r="r" b="b" t="t" l="l"/>
            <a:pathLst>
              <a:path h="881582" w="724856">
                <a:moveTo>
                  <a:pt x="0" y="0"/>
                </a:moveTo>
                <a:lnTo>
                  <a:pt x="724856" y="0"/>
                </a:lnTo>
                <a:lnTo>
                  <a:pt x="724856" y="881582"/>
                </a:lnTo>
                <a:lnTo>
                  <a:pt x="0" y="881582"/>
                </a:lnTo>
                <a:lnTo>
                  <a:pt x="0" y="0"/>
                </a:lnTo>
                <a:close/>
              </a:path>
            </a:pathLst>
          </a:custGeom>
          <a:blipFill>
            <a:blip r:embed="rId24"/>
            <a:stretch>
              <a:fillRect l="0" t="0" r="0" b="0"/>
            </a:stretch>
          </a:blipFill>
        </p:spPr>
      </p:sp>
      <p:sp>
        <p:nvSpPr>
          <p:cNvPr name="Freeform 32" id="32"/>
          <p:cNvSpPr/>
          <p:nvPr/>
        </p:nvSpPr>
        <p:spPr>
          <a:xfrm flipH="false" flipV="false" rot="0">
            <a:off x="8140134" y="3673671"/>
            <a:ext cx="548540" cy="528949"/>
          </a:xfrm>
          <a:custGeom>
            <a:avLst/>
            <a:gdLst/>
            <a:ahLst/>
            <a:cxnLst/>
            <a:rect r="r" b="b" t="t" l="l"/>
            <a:pathLst>
              <a:path h="528949" w="548540">
                <a:moveTo>
                  <a:pt x="0" y="0"/>
                </a:moveTo>
                <a:lnTo>
                  <a:pt x="548540" y="0"/>
                </a:lnTo>
                <a:lnTo>
                  <a:pt x="548540" y="528949"/>
                </a:lnTo>
                <a:lnTo>
                  <a:pt x="0" y="528949"/>
                </a:lnTo>
                <a:lnTo>
                  <a:pt x="0" y="0"/>
                </a:lnTo>
                <a:close/>
              </a:path>
            </a:pathLst>
          </a:custGeom>
          <a:blipFill>
            <a:blip r:embed="rId25"/>
            <a:stretch>
              <a:fillRect l="0" t="0" r="0" b="0"/>
            </a:stretch>
          </a:blipFill>
        </p:spPr>
      </p:sp>
      <p:sp>
        <p:nvSpPr>
          <p:cNvPr name="TextBox 33" id="33"/>
          <p:cNvSpPr txBox="true"/>
          <p:nvPr/>
        </p:nvSpPr>
        <p:spPr>
          <a:xfrm rot="0">
            <a:off x="8722516" y="3760452"/>
            <a:ext cx="2243015" cy="2644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86"/>
              </a:lnSpc>
            </a:pPr>
            <a:r>
              <a:rPr lang="en-US" sz="1738" spc="-34" b="true">
                <a:solidFill>
                  <a:srgbClr val="0A2F5B"/>
                </a:solidFill>
                <a:latin typeface="Lato Bold"/>
                <a:ea typeface="Lato Bold"/>
                <a:cs typeface="Lato Bold"/>
                <a:sym typeface="Lato Bold"/>
              </a:rPr>
              <a:t>Zona y código postal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8709970" y="4060751"/>
            <a:ext cx="3012950" cy="6966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65"/>
              </a:lnSpc>
            </a:pPr>
            <a:r>
              <a:rPr lang="en-US" sz="1434" spc="-28">
                <a:solidFill>
                  <a:srgbClr val="0A2F5B"/>
                </a:solidFill>
                <a:latin typeface="Lato"/>
                <a:ea typeface="Lato"/>
                <a:cs typeface="Lato"/>
                <a:sym typeface="Lato"/>
              </a:rPr>
              <a:t>También tienen un peso importante. Pueden aumentar o disminuir el precio, dependiendo de la ubicación.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8749546" y="4793886"/>
            <a:ext cx="1644758" cy="2174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54"/>
              </a:lnSpc>
            </a:pPr>
            <a:r>
              <a:rPr lang="en-US" sz="1349" spc="-27" b="true">
                <a:solidFill>
                  <a:srgbClr val="F09540"/>
                </a:solidFill>
                <a:latin typeface="Lato Bold"/>
                <a:ea typeface="Lato Bold"/>
                <a:cs typeface="Lato Bold"/>
                <a:sym typeface="Lato Bold"/>
              </a:rPr>
              <a:t>(variables codificadas)</a:t>
            </a:r>
          </a:p>
        </p:txBody>
      </p:sp>
      <p:sp>
        <p:nvSpPr>
          <p:cNvPr name="Freeform 36" id="36"/>
          <p:cNvSpPr/>
          <p:nvPr/>
        </p:nvSpPr>
        <p:spPr>
          <a:xfrm flipH="false" flipV="false" rot="0">
            <a:off x="7248757" y="5084202"/>
            <a:ext cx="4838905" cy="1410531"/>
          </a:xfrm>
          <a:custGeom>
            <a:avLst/>
            <a:gdLst/>
            <a:ahLst/>
            <a:cxnLst/>
            <a:rect r="r" b="b" t="t" l="l"/>
            <a:pathLst>
              <a:path h="1410531" w="4838905">
                <a:moveTo>
                  <a:pt x="0" y="0"/>
                </a:moveTo>
                <a:lnTo>
                  <a:pt x="4838905" y="0"/>
                </a:lnTo>
                <a:lnTo>
                  <a:pt x="4838905" y="1410531"/>
                </a:lnTo>
                <a:lnTo>
                  <a:pt x="0" y="1410531"/>
                </a:lnTo>
                <a:lnTo>
                  <a:pt x="0" y="0"/>
                </a:lnTo>
                <a:close/>
              </a:path>
            </a:pathLst>
          </a:custGeom>
          <a:blipFill>
            <a:blip r:embed="rId26"/>
            <a:stretch>
              <a:fillRect l="0" t="0" r="0" b="0"/>
            </a:stretch>
          </a:blipFill>
        </p:spPr>
      </p:sp>
      <p:sp>
        <p:nvSpPr>
          <p:cNvPr name="Freeform 37" id="37"/>
          <p:cNvSpPr/>
          <p:nvPr/>
        </p:nvSpPr>
        <p:spPr>
          <a:xfrm flipH="false" flipV="false" rot="0">
            <a:off x="7425073" y="5260518"/>
            <a:ext cx="724856" cy="705266"/>
          </a:xfrm>
          <a:custGeom>
            <a:avLst/>
            <a:gdLst/>
            <a:ahLst/>
            <a:cxnLst/>
            <a:rect r="r" b="b" t="t" l="l"/>
            <a:pathLst>
              <a:path h="705266" w="724856">
                <a:moveTo>
                  <a:pt x="0" y="0"/>
                </a:moveTo>
                <a:lnTo>
                  <a:pt x="724856" y="0"/>
                </a:lnTo>
                <a:lnTo>
                  <a:pt x="724856" y="705266"/>
                </a:lnTo>
                <a:lnTo>
                  <a:pt x="0" y="705266"/>
                </a:lnTo>
                <a:lnTo>
                  <a:pt x="0" y="0"/>
                </a:lnTo>
                <a:close/>
              </a:path>
            </a:pathLst>
          </a:custGeom>
          <a:blipFill>
            <a:blip r:embed="rId27"/>
            <a:stretch>
              <a:fillRect l="0" t="0" r="0" b="0"/>
            </a:stretch>
          </a:blipFill>
        </p:spPr>
      </p:sp>
      <p:sp>
        <p:nvSpPr>
          <p:cNvPr name="Freeform 38" id="38"/>
          <p:cNvSpPr/>
          <p:nvPr/>
        </p:nvSpPr>
        <p:spPr>
          <a:xfrm flipH="false" flipV="false" rot="0">
            <a:off x="8140134" y="5260518"/>
            <a:ext cx="548540" cy="352633"/>
          </a:xfrm>
          <a:custGeom>
            <a:avLst/>
            <a:gdLst/>
            <a:ahLst/>
            <a:cxnLst/>
            <a:rect r="r" b="b" t="t" l="l"/>
            <a:pathLst>
              <a:path h="352633" w="548540">
                <a:moveTo>
                  <a:pt x="0" y="0"/>
                </a:moveTo>
                <a:lnTo>
                  <a:pt x="548540" y="0"/>
                </a:lnTo>
                <a:lnTo>
                  <a:pt x="548540" y="352633"/>
                </a:lnTo>
                <a:lnTo>
                  <a:pt x="0" y="352633"/>
                </a:lnTo>
                <a:lnTo>
                  <a:pt x="0" y="0"/>
                </a:lnTo>
                <a:close/>
              </a:path>
            </a:pathLst>
          </a:custGeom>
          <a:blipFill>
            <a:blip r:embed="rId28"/>
            <a:stretch>
              <a:fillRect l="0" t="0" r="0" b="0"/>
            </a:stretch>
          </a:blipFill>
        </p:spPr>
      </p:sp>
      <p:sp>
        <p:nvSpPr>
          <p:cNvPr name="TextBox 39" id="39"/>
          <p:cNvSpPr txBox="true"/>
          <p:nvPr/>
        </p:nvSpPr>
        <p:spPr>
          <a:xfrm rot="0">
            <a:off x="8710742" y="5322505"/>
            <a:ext cx="3367124" cy="2448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74"/>
              </a:lnSpc>
            </a:pPr>
            <a:r>
              <a:rPr lang="en-US" sz="1645" spc="-32" b="true">
                <a:solidFill>
                  <a:srgbClr val="0A2F5B"/>
                </a:solidFill>
                <a:latin typeface="Lato Bold"/>
                <a:ea typeface="Lato Bold"/>
                <a:cs typeface="Lato Bold"/>
                <a:sym typeface="Lato Bold"/>
              </a:rPr>
              <a:t>Vista, baños y año de construcción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8723779" y="5616594"/>
            <a:ext cx="3011006" cy="6966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65"/>
              </a:lnSpc>
            </a:pPr>
            <a:r>
              <a:rPr lang="en-US" sz="1434" spc="-28">
                <a:solidFill>
                  <a:srgbClr val="0A2F5B"/>
                </a:solidFill>
                <a:latin typeface="Lato"/>
                <a:ea typeface="Lato"/>
                <a:cs typeface="Lato"/>
                <a:sym typeface="Lato"/>
              </a:rPr>
              <a:t>Contribuyen a las predicciones, aunque su impacto es menor que el área construida y la ubicación.</a:t>
            </a:r>
          </a:p>
        </p:txBody>
      </p:sp>
      <p:sp>
        <p:nvSpPr>
          <p:cNvPr name="Freeform 41" id="41"/>
          <p:cNvSpPr/>
          <p:nvPr/>
        </p:nvSpPr>
        <p:spPr>
          <a:xfrm flipH="false" flipV="false" rot="0">
            <a:off x="7248757" y="6494733"/>
            <a:ext cx="4838905" cy="1057898"/>
          </a:xfrm>
          <a:custGeom>
            <a:avLst/>
            <a:gdLst/>
            <a:ahLst/>
            <a:cxnLst/>
            <a:rect r="r" b="b" t="t" l="l"/>
            <a:pathLst>
              <a:path h="1057898" w="4838905">
                <a:moveTo>
                  <a:pt x="0" y="0"/>
                </a:moveTo>
                <a:lnTo>
                  <a:pt x="4838905" y="0"/>
                </a:lnTo>
                <a:lnTo>
                  <a:pt x="4838905" y="1057898"/>
                </a:lnTo>
                <a:lnTo>
                  <a:pt x="0" y="1057898"/>
                </a:lnTo>
                <a:lnTo>
                  <a:pt x="0" y="0"/>
                </a:lnTo>
                <a:close/>
              </a:path>
            </a:pathLst>
          </a:custGeom>
          <a:blipFill>
            <a:blip r:embed="rId29"/>
            <a:stretch>
              <a:fillRect l="0" t="0" r="0" b="0"/>
            </a:stretch>
          </a:blipFill>
        </p:spPr>
      </p:sp>
      <p:sp>
        <p:nvSpPr>
          <p:cNvPr name="Freeform 42" id="42"/>
          <p:cNvSpPr/>
          <p:nvPr/>
        </p:nvSpPr>
        <p:spPr>
          <a:xfrm flipH="false" flipV="false" rot="0">
            <a:off x="7425073" y="6494733"/>
            <a:ext cx="724856" cy="881582"/>
          </a:xfrm>
          <a:custGeom>
            <a:avLst/>
            <a:gdLst/>
            <a:ahLst/>
            <a:cxnLst/>
            <a:rect r="r" b="b" t="t" l="l"/>
            <a:pathLst>
              <a:path h="881582" w="724856">
                <a:moveTo>
                  <a:pt x="0" y="0"/>
                </a:moveTo>
                <a:lnTo>
                  <a:pt x="724856" y="0"/>
                </a:lnTo>
                <a:lnTo>
                  <a:pt x="724856" y="881582"/>
                </a:lnTo>
                <a:lnTo>
                  <a:pt x="0" y="881582"/>
                </a:lnTo>
                <a:lnTo>
                  <a:pt x="0" y="0"/>
                </a:lnTo>
                <a:close/>
              </a:path>
            </a:pathLst>
          </a:custGeom>
          <a:blipFill>
            <a:blip r:embed="rId30"/>
            <a:stretch>
              <a:fillRect l="0" t="0" r="0" b="0"/>
            </a:stretch>
          </a:blipFill>
        </p:spPr>
      </p:sp>
      <p:sp>
        <p:nvSpPr>
          <p:cNvPr name="Freeform 43" id="43"/>
          <p:cNvSpPr/>
          <p:nvPr/>
        </p:nvSpPr>
        <p:spPr>
          <a:xfrm flipH="false" flipV="false" rot="0">
            <a:off x="8140134" y="6494733"/>
            <a:ext cx="548540" cy="528949"/>
          </a:xfrm>
          <a:custGeom>
            <a:avLst/>
            <a:gdLst/>
            <a:ahLst/>
            <a:cxnLst/>
            <a:rect r="r" b="b" t="t" l="l"/>
            <a:pathLst>
              <a:path h="528949" w="548540">
                <a:moveTo>
                  <a:pt x="0" y="0"/>
                </a:moveTo>
                <a:lnTo>
                  <a:pt x="548540" y="0"/>
                </a:lnTo>
                <a:lnTo>
                  <a:pt x="548540" y="528949"/>
                </a:lnTo>
                <a:lnTo>
                  <a:pt x="0" y="528949"/>
                </a:lnTo>
                <a:lnTo>
                  <a:pt x="0" y="0"/>
                </a:lnTo>
                <a:close/>
              </a:path>
            </a:pathLst>
          </a:custGeom>
          <a:blipFill>
            <a:blip r:embed="rId31"/>
            <a:stretch>
              <a:fillRect l="0" t="0" r="0" b="0"/>
            </a:stretch>
          </a:blipFill>
        </p:spPr>
      </p:sp>
      <p:sp>
        <p:nvSpPr>
          <p:cNvPr name="TextBox 44" id="44"/>
          <p:cNvSpPr txBox="true"/>
          <p:nvPr/>
        </p:nvSpPr>
        <p:spPr>
          <a:xfrm rot="0">
            <a:off x="8723779" y="6686201"/>
            <a:ext cx="2110077" cy="2644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88"/>
              </a:lnSpc>
            </a:pPr>
            <a:r>
              <a:rPr lang="en-US" sz="1740" spc="-34" b="true">
                <a:solidFill>
                  <a:srgbClr val="0A2F5B"/>
                </a:solidFill>
                <a:latin typeface="Lato Bold"/>
                <a:ea typeface="Lato Bold"/>
                <a:cs typeface="Lato Bold"/>
                <a:sym typeface="Lato Bold"/>
              </a:rPr>
              <a:t>Habitaciones y pisos</a:t>
            </a:r>
          </a:p>
        </p:txBody>
      </p:sp>
      <p:sp>
        <p:nvSpPr>
          <p:cNvPr name="TextBox 45" id="45"/>
          <p:cNvSpPr txBox="true"/>
          <p:nvPr/>
        </p:nvSpPr>
        <p:spPr>
          <a:xfrm rot="0">
            <a:off x="8714684" y="6974104"/>
            <a:ext cx="3020101" cy="4615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65"/>
              </a:lnSpc>
            </a:pPr>
            <a:r>
              <a:rPr lang="en-US" sz="1434" spc="-28">
                <a:solidFill>
                  <a:srgbClr val="0A2F5B"/>
                </a:solidFill>
                <a:latin typeface="Lato"/>
                <a:ea typeface="Lato"/>
                <a:cs typeface="Lato"/>
                <a:sym typeface="Lato"/>
              </a:rPr>
              <a:t>Presentan un impacto relativo menor, con valores más cercanos a cero.</a:t>
            </a:r>
          </a:p>
        </p:txBody>
      </p:sp>
      <p:sp>
        <p:nvSpPr>
          <p:cNvPr name="TextBox 46" id="46"/>
          <p:cNvSpPr txBox="true"/>
          <p:nvPr/>
        </p:nvSpPr>
        <p:spPr>
          <a:xfrm rot="0">
            <a:off x="2635183" y="6795700"/>
            <a:ext cx="3143529" cy="1809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434"/>
              </a:lnSpc>
            </a:pPr>
            <a:r>
              <a:rPr lang="en-US" sz="1195" spc="-23">
                <a:solidFill>
                  <a:srgbClr val="0A2F5B"/>
                </a:solidFill>
                <a:latin typeface="Lato"/>
                <a:ea typeface="Lato"/>
                <a:cs typeface="Lato"/>
                <a:sym typeface="Lato"/>
              </a:rPr>
              <a:t>Efecto en log(precio)  (+0,10 = +10 % de precio)</a:t>
            </a:r>
          </a:p>
        </p:txBody>
      </p:sp>
      <p:sp>
        <p:nvSpPr>
          <p:cNvPr name="TextBox 47" id="47"/>
          <p:cNvSpPr txBox="true"/>
          <p:nvPr/>
        </p:nvSpPr>
        <p:spPr>
          <a:xfrm rot="-5400000">
            <a:off x="6204510" y="4763154"/>
            <a:ext cx="1258009" cy="1809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434"/>
              </a:lnSpc>
            </a:pPr>
            <a:r>
              <a:rPr lang="en-US" sz="1195" spc="-23">
                <a:solidFill>
                  <a:srgbClr val="0A2F5B"/>
                </a:solidFill>
                <a:latin typeface="Lato"/>
                <a:ea typeface="Lato"/>
                <a:cs typeface="Lato"/>
                <a:sym typeface="Lato"/>
              </a:rPr>
              <a:t>Valor de la variable</a:t>
            </a:r>
          </a:p>
        </p:txBody>
      </p:sp>
      <p:sp>
        <p:nvSpPr>
          <p:cNvPr name="TextBox 48" id="48"/>
          <p:cNvSpPr txBox="true"/>
          <p:nvPr/>
        </p:nvSpPr>
        <p:spPr>
          <a:xfrm rot="0">
            <a:off x="2532368" y="6508743"/>
            <a:ext cx="301207" cy="1633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316"/>
              </a:lnSpc>
            </a:pPr>
            <a:r>
              <a:rPr lang="en-US" sz="1012" spc="-20">
                <a:solidFill>
                  <a:srgbClr val="0A2F5B"/>
                </a:solidFill>
                <a:latin typeface="Lato"/>
                <a:ea typeface="Lato"/>
                <a:cs typeface="Lato"/>
                <a:sym typeface="Lato"/>
              </a:rPr>
              <a:t>-0,50</a:t>
            </a:r>
          </a:p>
        </p:txBody>
      </p:sp>
      <p:sp>
        <p:nvSpPr>
          <p:cNvPr name="TextBox 49" id="49"/>
          <p:cNvSpPr txBox="true"/>
          <p:nvPr/>
        </p:nvSpPr>
        <p:spPr>
          <a:xfrm rot="0">
            <a:off x="1953724" y="6508743"/>
            <a:ext cx="301207" cy="1633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316"/>
              </a:lnSpc>
            </a:pPr>
            <a:r>
              <a:rPr lang="en-US" sz="1012" spc="-20">
                <a:solidFill>
                  <a:srgbClr val="0A2F5B"/>
                </a:solidFill>
                <a:latin typeface="Lato"/>
                <a:ea typeface="Lato"/>
                <a:cs typeface="Lato"/>
                <a:sym typeface="Lato"/>
              </a:rPr>
              <a:t>-0,75</a:t>
            </a:r>
          </a:p>
        </p:txBody>
      </p:sp>
      <p:sp>
        <p:nvSpPr>
          <p:cNvPr name="TextBox 50" id="50"/>
          <p:cNvSpPr txBox="true"/>
          <p:nvPr/>
        </p:nvSpPr>
        <p:spPr>
          <a:xfrm rot="0">
            <a:off x="3132443" y="6508743"/>
            <a:ext cx="301207" cy="1633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316"/>
              </a:lnSpc>
            </a:pPr>
            <a:r>
              <a:rPr lang="en-US" sz="1012" spc="-20">
                <a:solidFill>
                  <a:srgbClr val="0A2F5B"/>
                </a:solidFill>
                <a:latin typeface="Lato"/>
                <a:ea typeface="Lato"/>
                <a:cs typeface="Lato"/>
                <a:sym typeface="Lato"/>
              </a:rPr>
              <a:t>-0,25</a:t>
            </a:r>
          </a:p>
        </p:txBody>
      </p:sp>
      <p:sp>
        <p:nvSpPr>
          <p:cNvPr name="TextBox 51" id="51"/>
          <p:cNvSpPr txBox="true"/>
          <p:nvPr/>
        </p:nvSpPr>
        <p:spPr>
          <a:xfrm rot="0">
            <a:off x="6547455" y="6301442"/>
            <a:ext cx="295322" cy="1809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434"/>
              </a:lnSpc>
            </a:pPr>
            <a:r>
              <a:rPr lang="en-US" sz="1195" spc="-23">
                <a:solidFill>
                  <a:srgbClr val="0A2F5B"/>
                </a:solidFill>
                <a:latin typeface="Lato"/>
                <a:ea typeface="Lato"/>
                <a:cs typeface="Lato"/>
                <a:sym typeface="Lato"/>
              </a:rPr>
              <a:t>Bajo</a:t>
            </a:r>
          </a:p>
        </p:txBody>
      </p:sp>
      <p:sp>
        <p:nvSpPr>
          <p:cNvPr name="TextBox 52" id="52"/>
          <p:cNvSpPr txBox="true"/>
          <p:nvPr/>
        </p:nvSpPr>
        <p:spPr>
          <a:xfrm rot="0">
            <a:off x="6556297" y="3227397"/>
            <a:ext cx="277638" cy="1809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434"/>
              </a:lnSpc>
            </a:pPr>
            <a:r>
              <a:rPr lang="en-US" sz="1195" spc="-23">
                <a:solidFill>
                  <a:srgbClr val="0A2F5B"/>
                </a:solidFill>
                <a:latin typeface="Lato"/>
                <a:ea typeface="Lato"/>
                <a:cs typeface="Lato"/>
                <a:sym typeface="Lato"/>
              </a:rPr>
              <a:t>Alto</a:t>
            </a:r>
          </a:p>
        </p:txBody>
      </p:sp>
      <p:sp>
        <p:nvSpPr>
          <p:cNvPr name="TextBox 53" id="53"/>
          <p:cNvSpPr txBox="true"/>
          <p:nvPr/>
        </p:nvSpPr>
        <p:spPr>
          <a:xfrm rot="0">
            <a:off x="4289731" y="6508743"/>
            <a:ext cx="301207" cy="1633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316"/>
              </a:lnSpc>
            </a:pPr>
            <a:r>
              <a:rPr lang="en-US" sz="1012" spc="-20">
                <a:solidFill>
                  <a:srgbClr val="0A2F5B"/>
                </a:solidFill>
                <a:latin typeface="Lato"/>
                <a:ea typeface="Lato"/>
                <a:cs typeface="Lato"/>
                <a:sym typeface="Lato"/>
              </a:rPr>
              <a:t>-0,25</a:t>
            </a:r>
          </a:p>
        </p:txBody>
      </p:sp>
      <p:sp>
        <p:nvSpPr>
          <p:cNvPr name="TextBox 54" id="54"/>
          <p:cNvSpPr txBox="true"/>
          <p:nvPr/>
        </p:nvSpPr>
        <p:spPr>
          <a:xfrm rot="0">
            <a:off x="3734735" y="6508743"/>
            <a:ext cx="253911" cy="1633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316"/>
              </a:lnSpc>
            </a:pPr>
            <a:r>
              <a:rPr lang="en-US" sz="1012" spc="-20">
                <a:solidFill>
                  <a:srgbClr val="0A2F5B"/>
                </a:solidFill>
                <a:latin typeface="Lato"/>
                <a:ea typeface="Lato"/>
                <a:cs typeface="Lato"/>
                <a:sym typeface="Lato"/>
              </a:rPr>
              <a:t>0,00</a:t>
            </a:r>
          </a:p>
        </p:txBody>
      </p:sp>
      <p:sp>
        <p:nvSpPr>
          <p:cNvPr name="TextBox 55" id="55"/>
          <p:cNvSpPr txBox="true"/>
          <p:nvPr/>
        </p:nvSpPr>
        <p:spPr>
          <a:xfrm rot="0">
            <a:off x="4849160" y="6508743"/>
            <a:ext cx="253911" cy="1633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316"/>
              </a:lnSpc>
            </a:pPr>
            <a:r>
              <a:rPr lang="en-US" sz="1012" spc="-20">
                <a:solidFill>
                  <a:srgbClr val="0A2F5B"/>
                </a:solidFill>
                <a:latin typeface="Lato"/>
                <a:ea typeface="Lato"/>
                <a:cs typeface="Lato"/>
                <a:sym typeface="Lato"/>
              </a:rPr>
              <a:t>0,50</a:t>
            </a:r>
          </a:p>
        </p:txBody>
      </p:sp>
      <p:sp>
        <p:nvSpPr>
          <p:cNvPr name="TextBox 56" id="56"/>
          <p:cNvSpPr txBox="true"/>
          <p:nvPr/>
        </p:nvSpPr>
        <p:spPr>
          <a:xfrm rot="0">
            <a:off x="5427804" y="6508743"/>
            <a:ext cx="253911" cy="1633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316"/>
              </a:lnSpc>
            </a:pPr>
            <a:r>
              <a:rPr lang="en-US" sz="1012" spc="-20">
                <a:solidFill>
                  <a:srgbClr val="0A2F5B"/>
                </a:solidFill>
                <a:latin typeface="Lato"/>
                <a:ea typeface="Lato"/>
                <a:cs typeface="Lato"/>
                <a:sym typeface="Lato"/>
              </a:rPr>
              <a:t>0,75</a:t>
            </a:r>
          </a:p>
        </p:txBody>
      </p:sp>
      <p:sp>
        <p:nvSpPr>
          <p:cNvPr name="TextBox 57" id="57"/>
          <p:cNvSpPr txBox="true"/>
          <p:nvPr/>
        </p:nvSpPr>
        <p:spPr>
          <a:xfrm rot="0">
            <a:off x="5985016" y="6508743"/>
            <a:ext cx="253911" cy="1633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316"/>
              </a:lnSpc>
            </a:pPr>
            <a:r>
              <a:rPr lang="en-US" sz="1012" spc="-20">
                <a:solidFill>
                  <a:srgbClr val="0A2F5B"/>
                </a:solidFill>
                <a:latin typeface="Lato"/>
                <a:ea typeface="Lato"/>
                <a:cs typeface="Lato"/>
                <a:sym typeface="Lato"/>
              </a:rPr>
              <a:t>1,00</a:t>
            </a:r>
          </a:p>
        </p:txBody>
      </p:sp>
      <p:sp>
        <p:nvSpPr>
          <p:cNvPr name="TextBox 58" id="58"/>
          <p:cNvSpPr txBox="true"/>
          <p:nvPr/>
        </p:nvSpPr>
        <p:spPr>
          <a:xfrm rot="0">
            <a:off x="8373384" y="6686202"/>
            <a:ext cx="111915" cy="2203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39"/>
              </a:lnSpc>
            </a:pPr>
            <a:r>
              <a:rPr lang="en-US" b="true" sz="1532" spc="-30">
                <a:solidFill>
                  <a:srgbClr val="FFFFFF"/>
                </a:solidFill>
                <a:latin typeface="Lato Bold"/>
                <a:ea typeface="Lato Bold"/>
                <a:cs typeface="Lato Bold"/>
                <a:sym typeface="Lato Bold"/>
              </a:rPr>
              <a:t>4</a:t>
            </a:r>
          </a:p>
        </p:txBody>
      </p:sp>
      <p:sp>
        <p:nvSpPr>
          <p:cNvPr name="TextBox 59" id="59"/>
          <p:cNvSpPr txBox="true"/>
          <p:nvPr/>
        </p:nvSpPr>
        <p:spPr>
          <a:xfrm rot="0">
            <a:off x="8373384" y="5347299"/>
            <a:ext cx="111915" cy="2203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39"/>
              </a:lnSpc>
            </a:pPr>
            <a:r>
              <a:rPr lang="en-US" b="true" sz="1532" spc="-30">
                <a:solidFill>
                  <a:srgbClr val="FFFFFF"/>
                </a:solidFill>
                <a:latin typeface="Lato Bold"/>
                <a:ea typeface="Lato Bold"/>
                <a:cs typeface="Lato Bold"/>
                <a:sym typeface="Lato Bold"/>
              </a:rPr>
              <a:t>3</a:t>
            </a:r>
          </a:p>
        </p:txBody>
      </p:sp>
      <p:sp>
        <p:nvSpPr>
          <p:cNvPr name="TextBox 60" id="60"/>
          <p:cNvSpPr txBox="true"/>
          <p:nvPr/>
        </p:nvSpPr>
        <p:spPr>
          <a:xfrm rot="0">
            <a:off x="8373384" y="3797643"/>
            <a:ext cx="111915" cy="2203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39"/>
              </a:lnSpc>
            </a:pPr>
            <a:r>
              <a:rPr lang="en-US" b="true" sz="1532" spc="-30">
                <a:solidFill>
                  <a:srgbClr val="FFFFFF"/>
                </a:solidFill>
                <a:latin typeface="Lato Bold"/>
                <a:ea typeface="Lato Bold"/>
                <a:cs typeface="Lato Bold"/>
                <a:sym typeface="Lato Bold"/>
              </a:rPr>
              <a:t>2</a:t>
            </a:r>
          </a:p>
        </p:txBody>
      </p:sp>
      <p:sp>
        <p:nvSpPr>
          <p:cNvPr name="TextBox 61" id="61"/>
          <p:cNvSpPr txBox="true"/>
          <p:nvPr/>
        </p:nvSpPr>
        <p:spPr>
          <a:xfrm rot="0">
            <a:off x="8373384" y="2483535"/>
            <a:ext cx="111915" cy="2203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39"/>
              </a:lnSpc>
            </a:pPr>
            <a:r>
              <a:rPr lang="en-US" b="true" sz="1532" spc="-30">
                <a:solidFill>
                  <a:srgbClr val="FFFFFF"/>
                </a:solidFill>
                <a:latin typeface="Lato Bold"/>
                <a:ea typeface="Lato Bold"/>
                <a:cs typeface="Lato Bold"/>
                <a:sym typeface="Lato Bold"/>
              </a:rPr>
              <a:t>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DAHX61-yE54</dc:identifier>
  <dcterms:modified xsi:type="dcterms:W3CDTF">2011-08-01T06:04:30Z</dcterms:modified>
  <cp:revision>1</cp:revision>
  <dc:title>PRESENTACIÓN FINAL.</dc:title>
</cp:coreProperties>
</file>